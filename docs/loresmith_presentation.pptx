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Story Points</c:v>
                </c:pt>
              </c:strCache>
            </c:strRef>
          </c:tx>
          <c:spPr>
            <a:solidFill>
              <a:srgbClr val="D4A847"/>
            </a:solidFill>
            <a:effectLst/>
          </c:spPr>
          <c:invertIfNegative val="0"/>
          <c:dLbls>
            <c:numFmt formatCode="#,##0" sourceLinked="0"/>
            <c:txPr>
              <a:bodyPr/>
              <a:lstStyle/>
              <a:p>
                <a:pPr>
                  <a:defRPr b="1" i="0" strike="noStrike" sz="13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Sprint 1</c:v>
                  </c:pt>
                  <c:pt idx="1">
                    <c:v>Sprint 2</c:v>
                  </c:pt>
                  <c:pt idx="2">
                    <c:v>Sprint 3</c:v>
                  </c:pt>
                  <c:pt idx="3">
                    <c:v>Sprint 4 (Proj.)</c:v>
                  </c:pt>
                </c:lvl>
              </c:multiLvlStrCache>
            </c:multiLvlStrRef>
          </c:cat>
          <c:val>
            <c:numRef>
              <c:f>Sheet1!$B$2:$B$5</c:f>
              <c:numCache>
                <c:formatCode>General</c:formatCode>
                <c:ptCount val="4"/>
                <c:pt idx="0">
                  <c:v>18</c:v>
                </c:pt>
                <c:pt idx="1">
                  <c:v>24</c:v>
                </c:pt>
                <c:pt idx="2">
                  <c:v>32</c:v>
                </c:pt>
                <c:pt idx="3">
                  <c:v>40</c:v>
                </c:pt>
              </c:numCache>
            </c:numRef>
          </c:val>
        </c:ser>
        <c:dLbls>
          <c:numFmt formatCode="#,##0" sourceLinked="0"/>
          <c:txPr>
            <a:bodyPr/>
            <a:lstStyle/>
            <a:p>
              <a:pPr>
                <a:defRPr b="1" i="0" strike="noStrike" sz="13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8CCDD"/>
                </a:solidFill>
                <a:latin typeface="Arial"/>
              </a:defRPr>
            </a:pPr>
            <a:endParaRPr lang="en-US"/>
          </a:p>
        </c:txPr>
        <c:crossAx val="2094734552"/>
        <c:crosses val="autoZero"/>
        <c:auto val="1"/>
        <c:lblAlgn val="ctr"/>
        <c:noMultiLvlLbl val="1"/>
      </c:catAx>
      <c:valAx>
        <c:axId val="2094734552"/>
        <c:scaling>
          <c:orientation val="minMax"/>
          <c:max val="48"/>
          <c:min val="0"/>
        </c:scaling>
        <c:delete val="0"/>
        <c:axPos val="l"/>
        <c:majorGridlines>
          <c:spPr>
            <a:ln w="6350" cap="flat">
              <a:solidFill>
                <a:srgbClr val="3A3F6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8CCD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252A4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this is my course project, LoreSmith. It's a web-based campaign management tool designed for Dungeon Masters to organize and manage their campaign data. The focus of this project wasn't just the application itself, but applying Agile methods to build it iteratively over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LoreSmith was to reduce the overhead of managing campaign information. Instead of tracking everything manually, the goal was to provide a structured system for managing NPCs, locations, and sessions. From an Agile perspective, the goal was also to deliver working software incrementally across multiple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followed a Scrum-style workflow with four sprints. User stories were tracked using GitHub Issues, and the GitHub Project board was used as both the product backlog and sprint tracking tool. Development happened in a dev branch, and each sprint concluded with a merge into main, which represented a stable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sprint built on the previous one. Sprint 1 delivered a full vertical slice with NPC CRUD and persistence. Sprint 2 introduced locations and expanded NPC functionality. Sprint 3 added factions, session tracking, and filtering capabilities. And Sprint 4, which is currently in progress, focuses on visualization and cross-entity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key metrics tracked was velocity. You can see that it increased steadily across sprints—from about 18 story points in Sprint 1 to around 32 in Sprint 3. This reflects growing familiarity with the system, improved tooling, and more efficient development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plan shows how functionality evolved across iterations. Each sprint delivered a complete increment, gradually expanding the system from a simple NPC manager into a more comprehensive campaign management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Agile artifacts, the project includes a full product backlog, sprint tracking via the project board, burnup charts for progress tracking, a release plan, and a domain model that represents the system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switch over and demonstrate the application.
[ALT-TAB TO APP]
DEMO FLOW:
1. NPC — "This is the core NPC system from Sprint 1" → Create or open an NPC → Show edit + persistence
2. Locations — "Sprint 2 introduced locations" → Show list + edit
3. Factions — Show assigning NPC to faction → "This enables grouping and relationships"
4. Session Logs — Show a session → Show NPC tagging
5. Filtering / Sorting — Show filter by faction or sorting
Keep it moving, don't dwell.
[BACK TO SLIDES] "Alright, switching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takeaways from this project was the importance of delivering a vertical slice early. That validated the architecture and made future expansion much easier. Another key takeaway was how valuable user feedback was in shaping Sprint 2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Agile allowed the project to evolve naturally over time. The system grew from a simple CRUD application into a multi-entity platform, and the process itself is something I would absolutely carry forward into future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847"/>
          </a:solidFill>
          <a:ln w="12700">
            <a:solidFill>
              <a:srgbClr val="D4A847"/>
            </a:solidFill>
            <a:prstDash val="solid"/>
          </a:ln>
        </p:spPr>
      </p:sp>
      <p:sp>
        <p:nvSpPr>
          <p:cNvPr id="3" name="Shape 1"/>
          <p:cNvSpPr/>
          <p:nvPr/>
        </p:nvSpPr>
        <p:spPr>
          <a:xfrm>
            <a:off x="6949440" y="0"/>
            <a:ext cx="2194560" cy="5143500"/>
          </a:xfrm>
          <a:prstGeom prst="rect">
            <a:avLst/>
          </a:prstGeom>
          <a:solidFill>
            <a:srgbClr val="1D2140"/>
          </a:solidFill>
          <a:ln w="12700">
            <a:solidFill>
              <a:srgbClr val="1D2140"/>
            </a:solidFill>
            <a:prstDash val="solid"/>
          </a:ln>
        </p:spPr>
      </p:sp>
      <p:sp>
        <p:nvSpPr>
          <p:cNvPr id="4" name="Shape 2"/>
          <p:cNvSpPr/>
          <p:nvPr/>
        </p:nvSpPr>
        <p:spPr>
          <a:xfrm>
            <a:off x="6675120" y="-914400"/>
            <a:ext cx="3108960" cy="3108960"/>
          </a:xfrm>
          <a:prstGeom prst="ellipse">
            <a:avLst/>
          </a:prstGeom>
          <a:solidFill>
            <a:srgbClr val="D4A847">
              <a:alpha val="18000"/>
            </a:srgbClr>
          </a:solidFill>
          <a:ln w="6350">
            <a:solidFill>
              <a:srgbClr val="D4A847">
                <a:alpha val="28000"/>
              </a:srgbClr>
            </a:solidFill>
            <a:prstDash val="solid"/>
          </a:ln>
        </p:spPr>
      </p:sp>
      <p:sp>
        <p:nvSpPr>
          <p:cNvPr id="5" name="Shape 3"/>
          <p:cNvSpPr/>
          <p:nvPr/>
        </p:nvSpPr>
        <p:spPr>
          <a:xfrm>
            <a:off x="7589520" y="2651760"/>
            <a:ext cx="2011680" cy="2011680"/>
          </a:xfrm>
          <a:prstGeom prst="ellipse">
            <a:avLst/>
          </a:prstGeom>
          <a:solidFill>
            <a:srgbClr val="8B72BE">
              <a:alpha val="25000"/>
            </a:srgbClr>
          </a:solidFill>
          <a:ln w="6350">
            <a:solidFill>
              <a:srgbClr val="8B72BE">
                <a:alpha val="35000"/>
              </a:srgbClr>
            </a:solidFill>
            <a:prstDash val="solid"/>
          </a:ln>
        </p:spPr>
      </p:sp>
      <p:sp>
        <p:nvSpPr>
          <p:cNvPr id="6" name="Text 4"/>
          <p:cNvSpPr/>
          <p:nvPr/>
        </p:nvSpPr>
        <p:spPr>
          <a:xfrm>
            <a:off x="411480" y="777240"/>
            <a:ext cx="6400800" cy="1005840"/>
          </a:xfrm>
          <a:prstGeom prst="rect">
            <a:avLst/>
          </a:prstGeom>
          <a:noFill/>
          <a:ln/>
        </p:spPr>
        <p:txBody>
          <a:bodyPr wrap="square" lIns="0" tIns="0" rIns="0" bIns="0" rtlCol="0" anchor="ctr"/>
          <a:lstStyle/>
          <a:p>
            <a:pPr indent="0" marL="0">
              <a:buNone/>
            </a:pPr>
            <a:r>
              <a:rPr lang="en-US" sz="5800" b="1" dirty="0">
                <a:solidFill>
                  <a:srgbClr val="FFFFFF"/>
                </a:solidFill>
                <a:latin typeface="Georgia" pitchFamily="34" charset="0"/>
                <a:ea typeface="Georgia" pitchFamily="34" charset="-122"/>
                <a:cs typeface="Georgia" pitchFamily="34" charset="-120"/>
              </a:rPr>
              <a:t>LoreSmith</a:t>
            </a:r>
            <a:endParaRPr lang="en-US" sz="5800" dirty="0"/>
          </a:p>
        </p:txBody>
      </p:sp>
      <p:sp>
        <p:nvSpPr>
          <p:cNvPr id="7" name="Shape 5"/>
          <p:cNvSpPr/>
          <p:nvPr/>
        </p:nvSpPr>
        <p:spPr>
          <a:xfrm>
            <a:off x="411480" y="1764792"/>
            <a:ext cx="2743200" cy="50292"/>
          </a:xfrm>
          <a:prstGeom prst="rect">
            <a:avLst/>
          </a:prstGeom>
          <a:solidFill>
            <a:srgbClr val="D4A847"/>
          </a:solidFill>
          <a:ln w="12700">
            <a:solidFill>
              <a:srgbClr val="D4A847"/>
            </a:solidFill>
            <a:prstDash val="solid"/>
          </a:ln>
        </p:spPr>
      </p:sp>
      <p:sp>
        <p:nvSpPr>
          <p:cNvPr id="8" name="Text 6"/>
          <p:cNvSpPr/>
          <p:nvPr/>
        </p:nvSpPr>
        <p:spPr>
          <a:xfrm>
            <a:off x="411480" y="1920240"/>
            <a:ext cx="6400800" cy="402336"/>
          </a:xfrm>
          <a:prstGeom prst="rect">
            <a:avLst/>
          </a:prstGeom>
          <a:noFill/>
          <a:ln/>
        </p:spPr>
        <p:txBody>
          <a:bodyPr wrap="square" lIns="0" tIns="0" rIns="0" bIns="0" rtlCol="0" anchor="ctr"/>
          <a:lstStyle/>
          <a:p>
            <a:pPr indent="0" marL="0">
              <a:buNone/>
            </a:pPr>
            <a:r>
              <a:rPr lang="en-US" sz="2000" dirty="0">
                <a:solidFill>
                  <a:srgbClr val="D4A847"/>
                </a:solidFill>
                <a:latin typeface="Calibri" pitchFamily="34" charset="0"/>
                <a:ea typeface="Calibri" pitchFamily="34" charset="-122"/>
                <a:cs typeface="Calibri" pitchFamily="34" charset="-120"/>
              </a:rPr>
              <a:t>Agile Course Project</a:t>
            </a:r>
            <a:endParaRPr lang="en-US" sz="2000" dirty="0"/>
          </a:p>
        </p:txBody>
      </p:sp>
      <p:sp>
        <p:nvSpPr>
          <p:cNvPr id="9" name="Text 7"/>
          <p:cNvSpPr/>
          <p:nvPr/>
        </p:nvSpPr>
        <p:spPr>
          <a:xfrm>
            <a:off x="411480" y="2359152"/>
            <a:ext cx="6583680" cy="292608"/>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Agile Software Development Methods (605.607)   ·   Johns Hopkins University</a:t>
            </a:r>
            <a:endParaRPr lang="en-US" sz="1300" dirty="0"/>
          </a:p>
        </p:txBody>
      </p:sp>
      <p:sp>
        <p:nvSpPr>
          <p:cNvPr id="10" name="Shape 8"/>
          <p:cNvSpPr/>
          <p:nvPr/>
        </p:nvSpPr>
        <p:spPr>
          <a:xfrm>
            <a:off x="411480" y="2999232"/>
            <a:ext cx="6217920" cy="530352"/>
          </a:xfrm>
          <a:prstGeom prst="rect">
            <a:avLst/>
          </a:prstGeom>
          <a:solidFill>
            <a:srgbClr val="252A4A"/>
          </a:solidFill>
          <a:ln w="9525">
            <a:solidFill>
              <a:srgbClr val="D4A847"/>
            </a:solidFill>
            <a:prstDash val="solid"/>
          </a:ln>
          <a:effectLst>
            <a:outerShdw sx="100000" sy="100000" kx="0" ky="0" algn="bl" rotWithShape="0" blurRad="101600" dist="25400" dir="8100000">
              <a:srgbClr val="000000">
                <a:alpha val="28000"/>
              </a:srgbClr>
            </a:outerShdw>
          </a:effectLst>
        </p:spPr>
      </p:sp>
      <p:sp>
        <p:nvSpPr>
          <p:cNvPr id="11" name="Text 9"/>
          <p:cNvSpPr/>
          <p:nvPr/>
        </p:nvSpPr>
        <p:spPr>
          <a:xfrm>
            <a:off x="530352" y="2999232"/>
            <a:ext cx="6080760" cy="530352"/>
          </a:xfrm>
          <a:prstGeom prst="rect">
            <a:avLst/>
          </a:prstGeom>
          <a:noFill/>
          <a:ln/>
        </p:spPr>
        <p:txBody>
          <a:bodyPr wrap="square" lIns="127000" tIns="127000" rIns="127000" bIns="12700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Campaign management tool for Dungeon Masters</a:t>
            </a:r>
            <a:endParaRPr lang="en-US" sz="1250" dirty="0"/>
          </a:p>
        </p:txBody>
      </p:sp>
      <p:sp>
        <p:nvSpPr>
          <p:cNvPr id="12" name="Shape 10"/>
          <p:cNvSpPr/>
          <p:nvPr/>
        </p:nvSpPr>
        <p:spPr>
          <a:xfrm>
            <a:off x="411480" y="3657600"/>
            <a:ext cx="6217920" cy="530352"/>
          </a:xfrm>
          <a:prstGeom prst="rect">
            <a:avLst/>
          </a:prstGeom>
          <a:solidFill>
            <a:srgbClr val="252A4A"/>
          </a:solidFill>
          <a:ln w="9525">
            <a:solidFill>
              <a:srgbClr val="8B72BE"/>
            </a:solidFill>
            <a:prstDash val="solid"/>
          </a:ln>
          <a:effectLst>
            <a:outerShdw sx="100000" sy="100000" kx="0" ky="0" algn="bl" rotWithShape="0" blurRad="101600" dist="25400" dir="8100000">
              <a:srgbClr val="000000">
                <a:alpha val="28000"/>
              </a:srgbClr>
            </a:outerShdw>
          </a:effectLst>
        </p:spPr>
      </p:sp>
      <p:sp>
        <p:nvSpPr>
          <p:cNvPr id="13" name="Text 11"/>
          <p:cNvSpPr/>
          <p:nvPr/>
        </p:nvSpPr>
        <p:spPr>
          <a:xfrm>
            <a:off x="530352" y="3657600"/>
            <a:ext cx="6080760" cy="530352"/>
          </a:xfrm>
          <a:prstGeom prst="rect">
            <a:avLst/>
          </a:prstGeom>
          <a:noFill/>
          <a:ln/>
        </p:spPr>
        <p:txBody>
          <a:bodyPr wrap="square" lIns="127000" tIns="127000" rIns="127000" bIns="12700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Built using iterative Agile development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OBJECTIVE</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Project Objective</a:t>
            </a:r>
            <a:endParaRPr lang="en-US" sz="3400" dirty="0"/>
          </a:p>
        </p:txBody>
      </p:sp>
      <p:sp>
        <p:nvSpPr>
          <p:cNvPr id="5" name="Shape 3"/>
          <p:cNvSpPr/>
          <p:nvPr/>
        </p:nvSpPr>
        <p:spPr>
          <a:xfrm>
            <a:off x="365760" y="1170432"/>
            <a:ext cx="8412480" cy="1078992"/>
          </a:xfrm>
          <a:prstGeom prst="rect">
            <a:avLst/>
          </a:prstGeom>
          <a:solidFill>
            <a:srgbClr val="252A4A"/>
          </a:solidFill>
          <a:ln w="9525">
            <a:solidFill>
              <a:srgbClr val="D4A847"/>
            </a:solidFill>
            <a:prstDash val="solid"/>
          </a:ln>
          <a:effectLst>
            <a:outerShdw sx="100000" sy="100000" kx="0" ky="0" algn="bl" rotWithShape="0" blurRad="50800" dist="12700" dir="8100000">
              <a:srgbClr val="000000">
                <a:alpha val="18000"/>
              </a:srgbClr>
            </a:outerShdw>
          </a:effectLst>
        </p:spPr>
      </p:sp>
      <p:sp>
        <p:nvSpPr>
          <p:cNvPr id="6" name="Shape 4"/>
          <p:cNvSpPr/>
          <p:nvPr/>
        </p:nvSpPr>
        <p:spPr>
          <a:xfrm>
            <a:off x="365760" y="1170432"/>
            <a:ext cx="64008" cy="1078992"/>
          </a:xfrm>
          <a:prstGeom prst="rect">
            <a:avLst/>
          </a:prstGeom>
          <a:solidFill>
            <a:srgbClr val="D4A847"/>
          </a:solidFill>
          <a:ln w="12700">
            <a:solidFill>
              <a:srgbClr val="D4A847"/>
            </a:solidFill>
            <a:prstDash val="solid"/>
          </a:ln>
        </p:spPr>
      </p:sp>
      <p:sp>
        <p:nvSpPr>
          <p:cNvPr id="7" name="Text 5"/>
          <p:cNvSpPr/>
          <p:nvPr/>
        </p:nvSpPr>
        <p:spPr>
          <a:xfrm>
            <a:off x="566928" y="1243584"/>
            <a:ext cx="822960" cy="914400"/>
          </a:xfrm>
          <a:prstGeom prst="rect">
            <a:avLst/>
          </a:prstGeom>
          <a:noFill/>
          <a:ln/>
        </p:spPr>
        <p:txBody>
          <a:bodyPr wrap="square" lIns="0" tIns="0" rIns="0" bIns="0" rtlCol="0" anchor="ctr"/>
          <a:lstStyle/>
          <a:p>
            <a:pPr algn="ctr" indent="0" marL="0">
              <a:buNone/>
            </a:pPr>
            <a:r>
              <a:rPr lang="en-US" sz="2800" b="1" dirty="0">
                <a:solidFill>
                  <a:srgbClr val="D4A847"/>
                </a:solidFill>
                <a:latin typeface="Georgia" pitchFamily="34" charset="0"/>
                <a:ea typeface="Georgia" pitchFamily="34" charset="-122"/>
                <a:cs typeface="Georgia" pitchFamily="34" charset="-120"/>
              </a:rPr>
              <a:t>01</a:t>
            </a:r>
            <a:endParaRPr lang="en-US" sz="2800" dirty="0"/>
          </a:p>
        </p:txBody>
      </p:sp>
      <p:sp>
        <p:nvSpPr>
          <p:cNvPr id="8" name="Shape 6"/>
          <p:cNvSpPr/>
          <p:nvPr/>
        </p:nvSpPr>
        <p:spPr>
          <a:xfrm>
            <a:off x="1481328" y="1335024"/>
            <a:ext cx="32004" cy="749808"/>
          </a:xfrm>
          <a:prstGeom prst="rect">
            <a:avLst/>
          </a:prstGeom>
          <a:solidFill>
            <a:srgbClr val="7A7F9A"/>
          </a:solidFill>
          <a:ln w="12700">
            <a:solidFill>
              <a:srgbClr val="7A7F9A"/>
            </a:solidFill>
            <a:prstDash val="solid"/>
          </a:ln>
        </p:spPr>
      </p:sp>
      <p:sp>
        <p:nvSpPr>
          <p:cNvPr id="9" name="Text 7"/>
          <p:cNvSpPr/>
          <p:nvPr/>
        </p:nvSpPr>
        <p:spPr>
          <a:xfrm>
            <a:off x="1645920" y="1243584"/>
            <a:ext cx="6995160" cy="38404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Reduce overhead of managing campaign data</a:t>
            </a:r>
            <a:endParaRPr lang="en-US" sz="1600" dirty="0"/>
          </a:p>
        </p:txBody>
      </p:sp>
      <p:sp>
        <p:nvSpPr>
          <p:cNvPr id="10" name="Text 8"/>
          <p:cNvSpPr/>
          <p:nvPr/>
        </p:nvSpPr>
        <p:spPr>
          <a:xfrm>
            <a:off x="1645920" y="1645920"/>
            <a:ext cx="6995160" cy="512064"/>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DMs spend too much time maintaining notes — LoreSmith structures that workflow.</a:t>
            </a:r>
            <a:endParaRPr lang="en-US" sz="1300" dirty="0"/>
          </a:p>
        </p:txBody>
      </p:sp>
      <p:sp>
        <p:nvSpPr>
          <p:cNvPr id="11" name="Shape 9"/>
          <p:cNvSpPr/>
          <p:nvPr/>
        </p:nvSpPr>
        <p:spPr>
          <a:xfrm>
            <a:off x="365760" y="2404872"/>
            <a:ext cx="8412480" cy="1078992"/>
          </a:xfrm>
          <a:prstGeom prst="rect">
            <a:avLst/>
          </a:prstGeom>
          <a:solidFill>
            <a:srgbClr val="252A4A"/>
          </a:solidFill>
          <a:ln w="9525">
            <a:solidFill>
              <a:srgbClr val="8B72BE"/>
            </a:solidFill>
            <a:prstDash val="solid"/>
          </a:ln>
          <a:effectLst>
            <a:outerShdw sx="100000" sy="100000" kx="0" ky="0" algn="bl" rotWithShape="0" blurRad="50800" dist="12700" dir="8100000">
              <a:srgbClr val="000000">
                <a:alpha val="18000"/>
              </a:srgbClr>
            </a:outerShdw>
          </a:effectLst>
        </p:spPr>
      </p:sp>
      <p:sp>
        <p:nvSpPr>
          <p:cNvPr id="12" name="Shape 10"/>
          <p:cNvSpPr/>
          <p:nvPr/>
        </p:nvSpPr>
        <p:spPr>
          <a:xfrm>
            <a:off x="365760" y="2404872"/>
            <a:ext cx="64008" cy="1078992"/>
          </a:xfrm>
          <a:prstGeom prst="rect">
            <a:avLst/>
          </a:prstGeom>
          <a:solidFill>
            <a:srgbClr val="8B72BE"/>
          </a:solidFill>
          <a:ln w="12700">
            <a:solidFill>
              <a:srgbClr val="8B72BE"/>
            </a:solidFill>
            <a:prstDash val="solid"/>
          </a:ln>
        </p:spPr>
      </p:sp>
      <p:sp>
        <p:nvSpPr>
          <p:cNvPr id="13" name="Text 11"/>
          <p:cNvSpPr/>
          <p:nvPr/>
        </p:nvSpPr>
        <p:spPr>
          <a:xfrm>
            <a:off x="566928" y="2478024"/>
            <a:ext cx="822960" cy="914400"/>
          </a:xfrm>
          <a:prstGeom prst="rect">
            <a:avLst/>
          </a:prstGeom>
          <a:noFill/>
          <a:ln/>
        </p:spPr>
        <p:txBody>
          <a:bodyPr wrap="square" lIns="0" tIns="0" rIns="0" bIns="0" rtlCol="0" anchor="ctr"/>
          <a:lstStyle/>
          <a:p>
            <a:pPr algn="ctr" indent="0" marL="0">
              <a:buNone/>
            </a:pPr>
            <a:r>
              <a:rPr lang="en-US" sz="2800" b="1" dirty="0">
                <a:solidFill>
                  <a:srgbClr val="8B72BE"/>
                </a:solidFill>
                <a:latin typeface="Georgia" pitchFamily="34" charset="0"/>
                <a:ea typeface="Georgia" pitchFamily="34" charset="-122"/>
                <a:cs typeface="Georgia" pitchFamily="34" charset="-120"/>
              </a:rPr>
              <a:t>02</a:t>
            </a:r>
            <a:endParaRPr lang="en-US" sz="2800" dirty="0"/>
          </a:p>
        </p:txBody>
      </p:sp>
      <p:sp>
        <p:nvSpPr>
          <p:cNvPr id="14" name="Shape 12"/>
          <p:cNvSpPr/>
          <p:nvPr/>
        </p:nvSpPr>
        <p:spPr>
          <a:xfrm>
            <a:off x="1481328" y="2569464"/>
            <a:ext cx="32004" cy="749808"/>
          </a:xfrm>
          <a:prstGeom prst="rect">
            <a:avLst/>
          </a:prstGeom>
          <a:solidFill>
            <a:srgbClr val="7A7F9A"/>
          </a:solidFill>
          <a:ln w="12700">
            <a:solidFill>
              <a:srgbClr val="7A7F9A"/>
            </a:solidFill>
            <a:prstDash val="solid"/>
          </a:ln>
        </p:spPr>
      </p:sp>
      <p:sp>
        <p:nvSpPr>
          <p:cNvPr id="15" name="Text 13"/>
          <p:cNvSpPr/>
          <p:nvPr/>
        </p:nvSpPr>
        <p:spPr>
          <a:xfrm>
            <a:off x="1645920" y="2478024"/>
            <a:ext cx="6995160" cy="38404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Provide a structured system for NPCs, locations, and sessions</a:t>
            </a:r>
            <a:endParaRPr lang="en-US" sz="1600" dirty="0"/>
          </a:p>
        </p:txBody>
      </p:sp>
      <p:sp>
        <p:nvSpPr>
          <p:cNvPr id="16" name="Text 14"/>
          <p:cNvSpPr/>
          <p:nvPr/>
        </p:nvSpPr>
        <p:spPr>
          <a:xfrm>
            <a:off x="1645920" y="2880360"/>
            <a:ext cx="6995160" cy="512064"/>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First-class entities with CRUD, relationships, and search capabilities.</a:t>
            </a:r>
            <a:endParaRPr lang="en-US" sz="1300" dirty="0"/>
          </a:p>
        </p:txBody>
      </p:sp>
      <p:sp>
        <p:nvSpPr>
          <p:cNvPr id="17" name="Shape 15"/>
          <p:cNvSpPr/>
          <p:nvPr/>
        </p:nvSpPr>
        <p:spPr>
          <a:xfrm>
            <a:off x="365760" y="3639312"/>
            <a:ext cx="8412480" cy="1078992"/>
          </a:xfrm>
          <a:prstGeom prst="rect">
            <a:avLst/>
          </a:prstGeom>
          <a:solidFill>
            <a:srgbClr val="252A4A"/>
          </a:solidFill>
          <a:ln w="9525">
            <a:solidFill>
              <a:srgbClr val="D4A847"/>
            </a:solidFill>
            <a:prstDash val="solid"/>
          </a:ln>
          <a:effectLst>
            <a:outerShdw sx="100000" sy="100000" kx="0" ky="0" algn="bl" rotWithShape="0" blurRad="50800" dist="12700" dir="8100000">
              <a:srgbClr val="000000">
                <a:alpha val="18000"/>
              </a:srgbClr>
            </a:outerShdw>
          </a:effectLst>
        </p:spPr>
      </p:sp>
      <p:sp>
        <p:nvSpPr>
          <p:cNvPr id="18" name="Shape 16"/>
          <p:cNvSpPr/>
          <p:nvPr/>
        </p:nvSpPr>
        <p:spPr>
          <a:xfrm>
            <a:off x="365760" y="3639312"/>
            <a:ext cx="64008" cy="1078992"/>
          </a:xfrm>
          <a:prstGeom prst="rect">
            <a:avLst/>
          </a:prstGeom>
          <a:solidFill>
            <a:srgbClr val="D4A847"/>
          </a:solidFill>
          <a:ln w="12700">
            <a:solidFill>
              <a:srgbClr val="D4A847"/>
            </a:solidFill>
            <a:prstDash val="solid"/>
          </a:ln>
        </p:spPr>
      </p:sp>
      <p:sp>
        <p:nvSpPr>
          <p:cNvPr id="19" name="Text 17"/>
          <p:cNvSpPr/>
          <p:nvPr/>
        </p:nvSpPr>
        <p:spPr>
          <a:xfrm>
            <a:off x="566928" y="3712464"/>
            <a:ext cx="822960" cy="914400"/>
          </a:xfrm>
          <a:prstGeom prst="rect">
            <a:avLst/>
          </a:prstGeom>
          <a:noFill/>
          <a:ln/>
        </p:spPr>
        <p:txBody>
          <a:bodyPr wrap="square" lIns="0" tIns="0" rIns="0" bIns="0" rtlCol="0" anchor="ctr"/>
          <a:lstStyle/>
          <a:p>
            <a:pPr algn="ctr" indent="0" marL="0">
              <a:buNone/>
            </a:pPr>
            <a:r>
              <a:rPr lang="en-US" sz="2800" b="1" dirty="0">
                <a:solidFill>
                  <a:srgbClr val="D4A847"/>
                </a:solidFill>
                <a:latin typeface="Georgia" pitchFamily="34" charset="0"/>
                <a:ea typeface="Georgia" pitchFamily="34" charset="-122"/>
                <a:cs typeface="Georgia" pitchFamily="34" charset="-120"/>
              </a:rPr>
              <a:t>03</a:t>
            </a:r>
            <a:endParaRPr lang="en-US" sz="2800" dirty="0"/>
          </a:p>
        </p:txBody>
      </p:sp>
      <p:sp>
        <p:nvSpPr>
          <p:cNvPr id="20" name="Shape 18"/>
          <p:cNvSpPr/>
          <p:nvPr/>
        </p:nvSpPr>
        <p:spPr>
          <a:xfrm>
            <a:off x="1481328" y="3803904"/>
            <a:ext cx="32004" cy="749808"/>
          </a:xfrm>
          <a:prstGeom prst="rect">
            <a:avLst/>
          </a:prstGeom>
          <a:solidFill>
            <a:srgbClr val="7A7F9A"/>
          </a:solidFill>
          <a:ln w="12700">
            <a:solidFill>
              <a:srgbClr val="7A7F9A"/>
            </a:solidFill>
            <a:prstDash val="solid"/>
          </a:ln>
        </p:spPr>
      </p:sp>
      <p:sp>
        <p:nvSpPr>
          <p:cNvPr id="21" name="Text 19"/>
          <p:cNvSpPr/>
          <p:nvPr/>
        </p:nvSpPr>
        <p:spPr>
          <a:xfrm>
            <a:off x="1645920" y="3712464"/>
            <a:ext cx="6995160" cy="38404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Deliver working software incrementally across sprints</a:t>
            </a:r>
            <a:endParaRPr lang="en-US" sz="1600" dirty="0"/>
          </a:p>
        </p:txBody>
      </p:sp>
      <p:sp>
        <p:nvSpPr>
          <p:cNvPr id="22" name="Text 20"/>
          <p:cNvSpPr/>
          <p:nvPr/>
        </p:nvSpPr>
        <p:spPr>
          <a:xfrm>
            <a:off x="1645920" y="4114800"/>
            <a:ext cx="6995160" cy="512064"/>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Each sprint ships a functional increment — no big-bang delivery.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PROCESS</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Agile Approach</a:t>
            </a:r>
            <a:endParaRPr lang="en-US" sz="3400" dirty="0"/>
          </a:p>
        </p:txBody>
      </p:sp>
      <p:sp>
        <p:nvSpPr>
          <p:cNvPr id="5" name="Shape 3"/>
          <p:cNvSpPr/>
          <p:nvPr/>
        </p:nvSpPr>
        <p:spPr>
          <a:xfrm>
            <a:off x="365760" y="1078992"/>
            <a:ext cx="8412480" cy="658368"/>
          </a:xfrm>
          <a:prstGeom prst="rect">
            <a:avLst/>
          </a:prstGeom>
          <a:solidFill>
            <a:srgbClr val="252A4A"/>
          </a:solidFill>
          <a:ln w="6350">
            <a:solidFill>
              <a:srgbClr val="2E3355"/>
            </a:solidFill>
            <a:prstDash val="solid"/>
          </a:ln>
          <a:effectLst>
            <a:outerShdw sx="100000" sy="100000" kx="0" ky="0" algn="bl" rotWithShape="0" blurRad="50800" dist="12700" dir="8100000">
              <a:srgbClr val="000000">
                <a:alpha val="18000"/>
              </a:srgbClr>
            </a:outerShdw>
          </a:effectLst>
        </p:spPr>
      </p:sp>
      <p:sp>
        <p:nvSpPr>
          <p:cNvPr id="6" name="Shape 4"/>
          <p:cNvSpPr/>
          <p:nvPr/>
        </p:nvSpPr>
        <p:spPr>
          <a:xfrm>
            <a:off x="457200" y="1170432"/>
            <a:ext cx="475488" cy="475488"/>
          </a:xfrm>
          <a:prstGeom prst="ellipse">
            <a:avLst/>
          </a:prstGeom>
          <a:solidFill>
            <a:srgbClr val="D4A847"/>
          </a:solidFill>
          <a:ln w="12700">
            <a:solidFill>
              <a:srgbClr val="D4A847"/>
            </a:solidFill>
            <a:prstDash val="solid"/>
          </a:ln>
        </p:spPr>
      </p:sp>
      <p:sp>
        <p:nvSpPr>
          <p:cNvPr id="7" name="Text 5"/>
          <p:cNvSpPr/>
          <p:nvPr/>
        </p:nvSpPr>
        <p:spPr>
          <a:xfrm>
            <a:off x="457200" y="11704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078992" y="1143000"/>
            <a:ext cx="2286000" cy="274320"/>
          </a:xfrm>
          <a:prstGeom prst="rect">
            <a:avLst/>
          </a:prstGeom>
          <a:noFill/>
          <a:ln/>
        </p:spPr>
        <p:txBody>
          <a:bodyPr wrap="square" lIns="0" tIns="0" rIns="0" bIns="0" rtlCol="0" anchor="ctr"/>
          <a:lstStyle/>
          <a:p>
            <a:pPr indent="0" marL="0">
              <a:buNone/>
            </a:pPr>
            <a:r>
              <a:rPr lang="en-US" sz="1350" b="1" dirty="0">
                <a:solidFill>
                  <a:srgbClr val="D4A847"/>
                </a:solidFill>
                <a:latin typeface="Calibri" pitchFamily="34" charset="0"/>
                <a:ea typeface="Calibri" pitchFamily="34" charset="-122"/>
                <a:cs typeface="Calibri" pitchFamily="34" charset="-120"/>
              </a:rPr>
              <a:t>Scrum-Style Iterations</a:t>
            </a:r>
            <a:endParaRPr lang="en-US" sz="1350" dirty="0"/>
          </a:p>
        </p:txBody>
      </p:sp>
      <p:sp>
        <p:nvSpPr>
          <p:cNvPr id="9" name="Shape 7"/>
          <p:cNvSpPr/>
          <p:nvPr/>
        </p:nvSpPr>
        <p:spPr>
          <a:xfrm>
            <a:off x="3291840" y="1207008"/>
            <a:ext cx="32004" cy="402336"/>
          </a:xfrm>
          <a:prstGeom prst="rect">
            <a:avLst/>
          </a:prstGeom>
          <a:solidFill>
            <a:srgbClr val="7A7F9A"/>
          </a:solidFill>
          <a:ln w="12700">
            <a:solidFill>
              <a:srgbClr val="7A7F9A"/>
            </a:solidFill>
            <a:prstDash val="solid"/>
          </a:ln>
        </p:spPr>
      </p:sp>
      <p:sp>
        <p:nvSpPr>
          <p:cNvPr id="10" name="Text 8"/>
          <p:cNvSpPr/>
          <p:nvPr/>
        </p:nvSpPr>
        <p:spPr>
          <a:xfrm>
            <a:off x="3429000" y="1143000"/>
            <a:ext cx="5257800" cy="530352"/>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Sprint-based development with defined start, end, and goals per iteration</a:t>
            </a:r>
            <a:endParaRPr lang="en-US" sz="1300" dirty="0"/>
          </a:p>
        </p:txBody>
      </p:sp>
      <p:sp>
        <p:nvSpPr>
          <p:cNvPr id="11" name="Shape 9"/>
          <p:cNvSpPr/>
          <p:nvPr/>
        </p:nvSpPr>
        <p:spPr>
          <a:xfrm>
            <a:off x="365760" y="1856232"/>
            <a:ext cx="8412480" cy="658368"/>
          </a:xfrm>
          <a:prstGeom prst="rect">
            <a:avLst/>
          </a:prstGeom>
          <a:solidFill>
            <a:srgbClr val="252A4A"/>
          </a:solidFill>
          <a:ln w="6350">
            <a:solidFill>
              <a:srgbClr val="2E3355"/>
            </a:solidFill>
            <a:prstDash val="solid"/>
          </a:ln>
          <a:effectLst>
            <a:outerShdw sx="100000" sy="100000" kx="0" ky="0" algn="bl" rotWithShape="0" blurRad="50800" dist="12700" dir="8100000">
              <a:srgbClr val="000000">
                <a:alpha val="18000"/>
              </a:srgbClr>
            </a:outerShdw>
          </a:effectLst>
        </p:spPr>
      </p:sp>
      <p:sp>
        <p:nvSpPr>
          <p:cNvPr id="12" name="Shape 10"/>
          <p:cNvSpPr/>
          <p:nvPr/>
        </p:nvSpPr>
        <p:spPr>
          <a:xfrm>
            <a:off x="457200" y="1947672"/>
            <a:ext cx="475488" cy="475488"/>
          </a:xfrm>
          <a:prstGeom prst="ellipse">
            <a:avLst/>
          </a:prstGeom>
          <a:solidFill>
            <a:srgbClr val="8B72BE"/>
          </a:solidFill>
          <a:ln w="12700">
            <a:solidFill>
              <a:srgbClr val="8B72BE"/>
            </a:solidFill>
            <a:prstDash val="solid"/>
          </a:ln>
        </p:spPr>
      </p:sp>
      <p:sp>
        <p:nvSpPr>
          <p:cNvPr id="13" name="Text 11"/>
          <p:cNvSpPr/>
          <p:nvPr/>
        </p:nvSpPr>
        <p:spPr>
          <a:xfrm>
            <a:off x="457200" y="194767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1078992" y="1920240"/>
            <a:ext cx="2286000" cy="274320"/>
          </a:xfrm>
          <a:prstGeom prst="rect">
            <a:avLst/>
          </a:prstGeom>
          <a:noFill/>
          <a:ln/>
        </p:spPr>
        <p:txBody>
          <a:bodyPr wrap="square" lIns="0" tIns="0" rIns="0" bIns="0" rtlCol="0" anchor="ctr"/>
          <a:lstStyle/>
          <a:p>
            <a:pPr indent="0" marL="0">
              <a:buNone/>
            </a:pPr>
            <a:r>
              <a:rPr lang="en-US" sz="1350" b="1" dirty="0">
                <a:solidFill>
                  <a:srgbClr val="8B72BE"/>
                </a:solidFill>
                <a:latin typeface="Calibri" pitchFamily="34" charset="0"/>
                <a:ea typeface="Calibri" pitchFamily="34" charset="-122"/>
                <a:cs typeface="Calibri" pitchFamily="34" charset="-120"/>
              </a:rPr>
              <a:t>4 Sprints</a:t>
            </a:r>
            <a:endParaRPr lang="en-US" sz="1350" dirty="0"/>
          </a:p>
        </p:txBody>
      </p:sp>
      <p:sp>
        <p:nvSpPr>
          <p:cNvPr id="15" name="Shape 13"/>
          <p:cNvSpPr/>
          <p:nvPr/>
        </p:nvSpPr>
        <p:spPr>
          <a:xfrm>
            <a:off x="3291840" y="1984248"/>
            <a:ext cx="32004" cy="402336"/>
          </a:xfrm>
          <a:prstGeom prst="rect">
            <a:avLst/>
          </a:prstGeom>
          <a:solidFill>
            <a:srgbClr val="7A7F9A"/>
          </a:solidFill>
          <a:ln w="12700">
            <a:solidFill>
              <a:srgbClr val="7A7F9A"/>
            </a:solidFill>
            <a:prstDash val="solid"/>
          </a:ln>
        </p:spPr>
      </p:sp>
      <p:sp>
        <p:nvSpPr>
          <p:cNvPr id="16" name="Text 14"/>
          <p:cNvSpPr/>
          <p:nvPr/>
        </p:nvSpPr>
        <p:spPr>
          <a:xfrm>
            <a:off x="3429000" y="1920240"/>
            <a:ext cx="5257800" cy="530352"/>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Sprint 1–3 complete · Sprint 4 in progress (Visualization layer)</a:t>
            </a:r>
            <a:endParaRPr lang="en-US" sz="1300" dirty="0"/>
          </a:p>
        </p:txBody>
      </p:sp>
      <p:sp>
        <p:nvSpPr>
          <p:cNvPr id="17" name="Shape 15"/>
          <p:cNvSpPr/>
          <p:nvPr/>
        </p:nvSpPr>
        <p:spPr>
          <a:xfrm>
            <a:off x="365760" y="2633472"/>
            <a:ext cx="8412480" cy="658368"/>
          </a:xfrm>
          <a:prstGeom prst="rect">
            <a:avLst/>
          </a:prstGeom>
          <a:solidFill>
            <a:srgbClr val="252A4A"/>
          </a:solidFill>
          <a:ln w="6350">
            <a:solidFill>
              <a:srgbClr val="2E3355"/>
            </a:solidFill>
            <a:prstDash val="solid"/>
          </a:ln>
          <a:effectLst>
            <a:outerShdw sx="100000" sy="100000" kx="0" ky="0" algn="bl" rotWithShape="0" blurRad="50800" dist="12700" dir="8100000">
              <a:srgbClr val="000000">
                <a:alpha val="18000"/>
              </a:srgbClr>
            </a:outerShdw>
          </a:effectLst>
        </p:spPr>
      </p:sp>
      <p:sp>
        <p:nvSpPr>
          <p:cNvPr id="18" name="Shape 16"/>
          <p:cNvSpPr/>
          <p:nvPr/>
        </p:nvSpPr>
        <p:spPr>
          <a:xfrm>
            <a:off x="457200" y="2724912"/>
            <a:ext cx="475488" cy="475488"/>
          </a:xfrm>
          <a:prstGeom prst="ellipse">
            <a:avLst/>
          </a:prstGeom>
          <a:solidFill>
            <a:srgbClr val="D4A847"/>
          </a:solidFill>
          <a:ln w="12700">
            <a:solidFill>
              <a:srgbClr val="D4A847"/>
            </a:solidFill>
            <a:prstDash val="solid"/>
          </a:ln>
        </p:spPr>
      </p:sp>
      <p:sp>
        <p:nvSpPr>
          <p:cNvPr id="19" name="Text 17"/>
          <p:cNvSpPr/>
          <p:nvPr/>
        </p:nvSpPr>
        <p:spPr>
          <a:xfrm>
            <a:off x="457200" y="272491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1078992" y="2697480"/>
            <a:ext cx="2286000" cy="274320"/>
          </a:xfrm>
          <a:prstGeom prst="rect">
            <a:avLst/>
          </a:prstGeom>
          <a:noFill/>
          <a:ln/>
        </p:spPr>
        <p:txBody>
          <a:bodyPr wrap="square" lIns="0" tIns="0" rIns="0" bIns="0" rtlCol="0" anchor="ctr"/>
          <a:lstStyle/>
          <a:p>
            <a:pPr indent="0" marL="0">
              <a:buNone/>
            </a:pPr>
            <a:r>
              <a:rPr lang="en-US" sz="1350" b="1" dirty="0">
                <a:solidFill>
                  <a:srgbClr val="D4A847"/>
                </a:solidFill>
                <a:latin typeface="Calibri" pitchFamily="34" charset="0"/>
                <a:ea typeface="Calibri" pitchFamily="34" charset="-122"/>
                <a:cs typeface="Calibri" pitchFamily="34" charset="-120"/>
              </a:rPr>
              <a:t>GitHub Issues → Stories</a:t>
            </a:r>
            <a:endParaRPr lang="en-US" sz="1350" dirty="0"/>
          </a:p>
        </p:txBody>
      </p:sp>
      <p:sp>
        <p:nvSpPr>
          <p:cNvPr id="21" name="Shape 19"/>
          <p:cNvSpPr/>
          <p:nvPr/>
        </p:nvSpPr>
        <p:spPr>
          <a:xfrm>
            <a:off x="3291840" y="2761488"/>
            <a:ext cx="32004" cy="402336"/>
          </a:xfrm>
          <a:prstGeom prst="rect">
            <a:avLst/>
          </a:prstGeom>
          <a:solidFill>
            <a:srgbClr val="7A7F9A"/>
          </a:solidFill>
          <a:ln w="12700">
            <a:solidFill>
              <a:srgbClr val="7A7F9A"/>
            </a:solidFill>
            <a:prstDash val="solid"/>
          </a:ln>
        </p:spPr>
      </p:sp>
      <p:sp>
        <p:nvSpPr>
          <p:cNvPr id="22" name="Text 20"/>
          <p:cNvSpPr/>
          <p:nvPr/>
        </p:nvSpPr>
        <p:spPr>
          <a:xfrm>
            <a:off x="3429000" y="2697480"/>
            <a:ext cx="5257800" cy="530352"/>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Every feature written as a user story: As a DM, I want… so that…</a:t>
            </a:r>
            <a:endParaRPr lang="en-US" sz="1300" dirty="0"/>
          </a:p>
        </p:txBody>
      </p:sp>
      <p:sp>
        <p:nvSpPr>
          <p:cNvPr id="23" name="Shape 21"/>
          <p:cNvSpPr/>
          <p:nvPr/>
        </p:nvSpPr>
        <p:spPr>
          <a:xfrm>
            <a:off x="365760" y="3410712"/>
            <a:ext cx="8412480" cy="658368"/>
          </a:xfrm>
          <a:prstGeom prst="rect">
            <a:avLst/>
          </a:prstGeom>
          <a:solidFill>
            <a:srgbClr val="252A4A"/>
          </a:solidFill>
          <a:ln w="6350">
            <a:solidFill>
              <a:srgbClr val="2E3355"/>
            </a:solidFill>
            <a:prstDash val="solid"/>
          </a:ln>
          <a:effectLst>
            <a:outerShdw sx="100000" sy="100000" kx="0" ky="0" algn="bl" rotWithShape="0" blurRad="50800" dist="12700" dir="8100000">
              <a:srgbClr val="000000">
                <a:alpha val="18000"/>
              </a:srgbClr>
            </a:outerShdw>
          </a:effectLst>
        </p:spPr>
      </p:sp>
      <p:sp>
        <p:nvSpPr>
          <p:cNvPr id="24" name="Shape 22"/>
          <p:cNvSpPr/>
          <p:nvPr/>
        </p:nvSpPr>
        <p:spPr>
          <a:xfrm>
            <a:off x="457200" y="3502152"/>
            <a:ext cx="475488" cy="475488"/>
          </a:xfrm>
          <a:prstGeom prst="ellipse">
            <a:avLst/>
          </a:prstGeom>
          <a:solidFill>
            <a:srgbClr val="8B72BE"/>
          </a:solidFill>
          <a:ln w="12700">
            <a:solidFill>
              <a:srgbClr val="8B72BE"/>
            </a:solidFill>
            <a:prstDash val="solid"/>
          </a:ln>
        </p:spPr>
      </p:sp>
      <p:sp>
        <p:nvSpPr>
          <p:cNvPr id="25" name="Text 23"/>
          <p:cNvSpPr/>
          <p:nvPr/>
        </p:nvSpPr>
        <p:spPr>
          <a:xfrm>
            <a:off x="457200" y="350215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1078992" y="3474720"/>
            <a:ext cx="2286000" cy="274320"/>
          </a:xfrm>
          <a:prstGeom prst="rect">
            <a:avLst/>
          </a:prstGeom>
          <a:noFill/>
          <a:ln/>
        </p:spPr>
        <p:txBody>
          <a:bodyPr wrap="square" lIns="0" tIns="0" rIns="0" bIns="0" rtlCol="0" anchor="ctr"/>
          <a:lstStyle/>
          <a:p>
            <a:pPr indent="0" marL="0">
              <a:buNone/>
            </a:pPr>
            <a:r>
              <a:rPr lang="en-US" sz="1350" b="1" dirty="0">
                <a:solidFill>
                  <a:srgbClr val="8B72BE"/>
                </a:solidFill>
                <a:latin typeface="Calibri" pitchFamily="34" charset="0"/>
                <a:ea typeface="Calibri" pitchFamily="34" charset="-122"/>
                <a:cs typeface="Calibri" pitchFamily="34" charset="-120"/>
              </a:rPr>
              <a:t>GitHub Projects → Board</a:t>
            </a:r>
            <a:endParaRPr lang="en-US" sz="1350" dirty="0"/>
          </a:p>
        </p:txBody>
      </p:sp>
      <p:sp>
        <p:nvSpPr>
          <p:cNvPr id="27" name="Shape 25"/>
          <p:cNvSpPr/>
          <p:nvPr/>
        </p:nvSpPr>
        <p:spPr>
          <a:xfrm>
            <a:off x="3291840" y="3538728"/>
            <a:ext cx="32004" cy="402336"/>
          </a:xfrm>
          <a:prstGeom prst="rect">
            <a:avLst/>
          </a:prstGeom>
          <a:solidFill>
            <a:srgbClr val="7A7F9A"/>
          </a:solidFill>
          <a:ln w="12700">
            <a:solidFill>
              <a:srgbClr val="7A7F9A"/>
            </a:solidFill>
            <a:prstDash val="solid"/>
          </a:ln>
        </p:spPr>
      </p:sp>
      <p:sp>
        <p:nvSpPr>
          <p:cNvPr id="28" name="Text 26"/>
          <p:cNvSpPr/>
          <p:nvPr/>
        </p:nvSpPr>
        <p:spPr>
          <a:xfrm>
            <a:off x="3429000" y="3474720"/>
            <a:ext cx="5257800" cy="530352"/>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Backlog, in-progress, and done columns mapped to sprint scope</a:t>
            </a:r>
            <a:endParaRPr lang="en-US" sz="1300" dirty="0"/>
          </a:p>
        </p:txBody>
      </p:sp>
      <p:sp>
        <p:nvSpPr>
          <p:cNvPr id="29" name="Shape 27"/>
          <p:cNvSpPr/>
          <p:nvPr/>
        </p:nvSpPr>
        <p:spPr>
          <a:xfrm>
            <a:off x="365760" y="4187952"/>
            <a:ext cx="8412480" cy="658368"/>
          </a:xfrm>
          <a:prstGeom prst="rect">
            <a:avLst/>
          </a:prstGeom>
          <a:solidFill>
            <a:srgbClr val="252A4A"/>
          </a:solidFill>
          <a:ln w="6350">
            <a:solidFill>
              <a:srgbClr val="2E3355"/>
            </a:solidFill>
            <a:prstDash val="solid"/>
          </a:ln>
          <a:effectLst>
            <a:outerShdw sx="100000" sy="100000" kx="0" ky="0" algn="bl" rotWithShape="0" blurRad="50800" dist="12700" dir="8100000">
              <a:srgbClr val="000000">
                <a:alpha val="18000"/>
              </a:srgbClr>
            </a:outerShdw>
          </a:effectLst>
        </p:spPr>
      </p:sp>
      <p:sp>
        <p:nvSpPr>
          <p:cNvPr id="30" name="Shape 28"/>
          <p:cNvSpPr/>
          <p:nvPr/>
        </p:nvSpPr>
        <p:spPr>
          <a:xfrm>
            <a:off x="457200" y="4279392"/>
            <a:ext cx="475488" cy="475488"/>
          </a:xfrm>
          <a:prstGeom prst="ellipse">
            <a:avLst/>
          </a:prstGeom>
          <a:solidFill>
            <a:srgbClr val="D4A847"/>
          </a:solidFill>
          <a:ln w="12700">
            <a:solidFill>
              <a:srgbClr val="D4A847"/>
            </a:solidFill>
            <a:prstDash val="solid"/>
          </a:ln>
        </p:spPr>
      </p:sp>
      <p:sp>
        <p:nvSpPr>
          <p:cNvPr id="31" name="Text 29"/>
          <p:cNvSpPr/>
          <p:nvPr/>
        </p:nvSpPr>
        <p:spPr>
          <a:xfrm>
            <a:off x="457200" y="427939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2" name="Text 30"/>
          <p:cNvSpPr/>
          <p:nvPr/>
        </p:nvSpPr>
        <p:spPr>
          <a:xfrm>
            <a:off x="1078992" y="4251960"/>
            <a:ext cx="2286000" cy="274320"/>
          </a:xfrm>
          <a:prstGeom prst="rect">
            <a:avLst/>
          </a:prstGeom>
          <a:noFill/>
          <a:ln/>
        </p:spPr>
        <p:txBody>
          <a:bodyPr wrap="square" lIns="0" tIns="0" rIns="0" bIns="0" rtlCol="0" anchor="ctr"/>
          <a:lstStyle/>
          <a:p>
            <a:pPr indent="0" marL="0">
              <a:buNone/>
            </a:pPr>
            <a:r>
              <a:rPr lang="en-US" sz="1350" b="1" dirty="0">
                <a:solidFill>
                  <a:srgbClr val="D4A847"/>
                </a:solidFill>
                <a:latin typeface="Calibri" pitchFamily="34" charset="0"/>
                <a:ea typeface="Calibri" pitchFamily="34" charset="-122"/>
                <a:cs typeface="Calibri" pitchFamily="34" charset="-120"/>
              </a:rPr>
              <a:t>dev → main = Release</a:t>
            </a:r>
            <a:endParaRPr lang="en-US" sz="1350" dirty="0"/>
          </a:p>
        </p:txBody>
      </p:sp>
      <p:sp>
        <p:nvSpPr>
          <p:cNvPr id="33" name="Shape 31"/>
          <p:cNvSpPr/>
          <p:nvPr/>
        </p:nvSpPr>
        <p:spPr>
          <a:xfrm>
            <a:off x="3291840" y="4315968"/>
            <a:ext cx="32004" cy="402336"/>
          </a:xfrm>
          <a:prstGeom prst="rect">
            <a:avLst/>
          </a:prstGeom>
          <a:solidFill>
            <a:srgbClr val="7A7F9A"/>
          </a:solidFill>
          <a:ln w="12700">
            <a:solidFill>
              <a:srgbClr val="7A7F9A"/>
            </a:solidFill>
            <a:prstDash val="solid"/>
          </a:ln>
        </p:spPr>
      </p:sp>
      <p:sp>
        <p:nvSpPr>
          <p:cNvPr id="34" name="Text 32"/>
          <p:cNvSpPr/>
          <p:nvPr/>
        </p:nvSpPr>
        <p:spPr>
          <a:xfrm>
            <a:off x="3429000" y="4251960"/>
            <a:ext cx="5257800" cy="530352"/>
          </a:xfrm>
          <a:prstGeom prst="rect">
            <a:avLst/>
          </a:prstGeom>
          <a:noFill/>
          <a:ln/>
        </p:spPr>
        <p:txBody>
          <a:bodyPr wrap="square" lIns="0" tIns="0" rIns="0" bIns="0" rtlCol="0" anchor="ctr"/>
          <a:lstStyle/>
          <a:p>
            <a:pPr indent="0" marL="0">
              <a:buNone/>
            </a:pPr>
            <a:r>
              <a:rPr lang="en-US" sz="1300" dirty="0">
                <a:solidFill>
                  <a:srgbClr val="C8CCDD"/>
                </a:solidFill>
                <a:latin typeface="Calibri" pitchFamily="34" charset="0"/>
                <a:ea typeface="Calibri" pitchFamily="34" charset="-122"/>
                <a:cs typeface="Calibri" pitchFamily="34" charset="-120"/>
              </a:rPr>
              <a:t>Each iteration boundary is a pull request merging dev into main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ITERATIONS</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Sprint Breakdown</a:t>
            </a:r>
            <a:endParaRPr lang="en-US" sz="3400" dirty="0"/>
          </a:p>
        </p:txBody>
      </p:sp>
      <p:sp>
        <p:nvSpPr>
          <p:cNvPr id="5" name="Shape 3"/>
          <p:cNvSpPr/>
          <p:nvPr/>
        </p:nvSpPr>
        <p:spPr>
          <a:xfrm>
            <a:off x="576072" y="2009851"/>
            <a:ext cx="7763256" cy="40234"/>
          </a:xfrm>
          <a:prstGeom prst="rect">
            <a:avLst/>
          </a:prstGeom>
          <a:solidFill>
            <a:srgbClr val="3A3F62"/>
          </a:solidFill>
          <a:ln w="12700">
            <a:solidFill>
              <a:srgbClr val="3A3F62"/>
            </a:solidFill>
            <a:prstDash val="solid"/>
          </a:ln>
        </p:spPr>
      </p:sp>
      <p:sp>
        <p:nvSpPr>
          <p:cNvPr id="6" name="Text 4"/>
          <p:cNvSpPr/>
          <p:nvPr/>
        </p:nvSpPr>
        <p:spPr>
          <a:xfrm>
            <a:off x="416052" y="1078992"/>
            <a:ext cx="1828800" cy="274320"/>
          </a:xfrm>
          <a:prstGeom prst="rect">
            <a:avLst/>
          </a:prstGeom>
          <a:noFill/>
          <a:ln/>
        </p:spPr>
        <p:txBody>
          <a:bodyPr wrap="square" lIns="0" tIns="0" rIns="0" bIns="0" rtlCol="0" anchor="ctr"/>
          <a:lstStyle/>
          <a:p>
            <a:pPr algn="ctr" indent="0" marL="0">
              <a:buNone/>
            </a:pPr>
            <a:r>
              <a:rPr lang="en-US" sz="1200" b="1" dirty="0">
                <a:solidFill>
                  <a:srgbClr val="D4A847"/>
                </a:solidFill>
                <a:latin typeface="Calibri" pitchFamily="34" charset="0"/>
                <a:ea typeface="Calibri" pitchFamily="34" charset="-122"/>
                <a:cs typeface="Calibri" pitchFamily="34" charset="-120"/>
              </a:rPr>
              <a:t>Sprint 1</a:t>
            </a:r>
            <a:endParaRPr lang="en-US" sz="1200" dirty="0"/>
          </a:p>
        </p:txBody>
      </p:sp>
      <p:sp>
        <p:nvSpPr>
          <p:cNvPr id="7" name="Text 5"/>
          <p:cNvSpPr/>
          <p:nvPr/>
        </p:nvSpPr>
        <p:spPr>
          <a:xfrm>
            <a:off x="416052" y="1371600"/>
            <a:ext cx="1828800" cy="228600"/>
          </a:xfrm>
          <a:prstGeom prst="rect">
            <a:avLst/>
          </a:prstGeom>
          <a:noFill/>
          <a:ln/>
        </p:spPr>
        <p:txBody>
          <a:bodyPr wrap="square" lIns="0" tIns="0" rIns="0" bIns="0" rtlCol="0" anchor="ctr"/>
          <a:lstStyle/>
          <a:p>
            <a:pPr algn="ctr" indent="0" marL="0">
              <a:buNone/>
            </a:pPr>
            <a:r>
              <a:rPr lang="en-US" sz="950" dirty="0">
                <a:solidFill>
                  <a:srgbClr val="7A7F9A"/>
                </a:solidFill>
                <a:latin typeface="Calibri" pitchFamily="34" charset="0"/>
                <a:ea typeface="Calibri" pitchFamily="34" charset="-122"/>
                <a:cs typeface="Calibri" pitchFamily="34" charset="-120"/>
              </a:rPr>
              <a:t>Feb 17 – Mar 2</a:t>
            </a:r>
            <a:endParaRPr lang="en-US" sz="950" dirty="0"/>
          </a:p>
        </p:txBody>
      </p:sp>
      <p:sp>
        <p:nvSpPr>
          <p:cNvPr id="8" name="Shape 6"/>
          <p:cNvSpPr/>
          <p:nvPr/>
        </p:nvSpPr>
        <p:spPr>
          <a:xfrm>
            <a:off x="1101852" y="1801368"/>
            <a:ext cx="457200" cy="457200"/>
          </a:xfrm>
          <a:prstGeom prst="ellipse">
            <a:avLst/>
          </a:prstGeom>
          <a:solidFill>
            <a:srgbClr val="D4A847"/>
          </a:solidFill>
          <a:ln w="12700">
            <a:solidFill>
              <a:srgbClr val="D4A847"/>
            </a:solidFill>
            <a:prstDash val="solid"/>
          </a:ln>
          <a:effectLst>
            <a:outerShdw sx="100000" sy="100000" kx="0" ky="0" algn="bl" rotWithShape="0" blurRad="50800" dist="12700" dir="8100000">
              <a:srgbClr val="000000">
                <a:alpha val="18000"/>
              </a:srgbClr>
            </a:outerShdw>
          </a:effectLst>
        </p:spPr>
      </p:sp>
      <p:sp>
        <p:nvSpPr>
          <p:cNvPr id="9" name="Text 7"/>
          <p:cNvSpPr/>
          <p:nvPr/>
        </p:nvSpPr>
        <p:spPr>
          <a:xfrm>
            <a:off x="1101852"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Shape 8"/>
          <p:cNvSpPr/>
          <p:nvPr/>
        </p:nvSpPr>
        <p:spPr>
          <a:xfrm>
            <a:off x="347472" y="2377440"/>
            <a:ext cx="1965960" cy="2240280"/>
          </a:xfrm>
          <a:prstGeom prst="rect">
            <a:avLst/>
          </a:prstGeom>
          <a:solidFill>
            <a:srgbClr val="252A4A"/>
          </a:solidFill>
          <a:ln w="10795">
            <a:solidFill>
              <a:srgbClr val="D4A847"/>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347472" y="2377440"/>
            <a:ext cx="1965960" cy="50292"/>
          </a:xfrm>
          <a:prstGeom prst="rect">
            <a:avLst/>
          </a:prstGeom>
          <a:solidFill>
            <a:srgbClr val="D4A847"/>
          </a:solidFill>
          <a:ln w="12700">
            <a:solidFill>
              <a:srgbClr val="D4A847"/>
            </a:solidFill>
            <a:prstDash val="solid"/>
          </a:ln>
        </p:spPr>
      </p:sp>
      <p:sp>
        <p:nvSpPr>
          <p:cNvPr id="12" name="Text 10"/>
          <p:cNvSpPr/>
          <p:nvPr/>
        </p:nvSpPr>
        <p:spPr>
          <a:xfrm>
            <a:off x="438912" y="2468880"/>
            <a:ext cx="1783080" cy="475488"/>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NPC CRUD</a:t>
            </a:r>
            <a:endParaRPr lang="en-US" sz="1350" dirty="0"/>
          </a:p>
        </p:txBody>
      </p:sp>
      <p:sp>
        <p:nvSpPr>
          <p:cNvPr id="13" name="Text 11"/>
          <p:cNvSpPr/>
          <p:nvPr/>
        </p:nvSpPr>
        <p:spPr>
          <a:xfrm>
            <a:off x="438912" y="2980944"/>
            <a:ext cx="1783080" cy="1353312"/>
          </a:xfrm>
          <a:prstGeom prst="rect">
            <a:avLst/>
          </a:prstGeom>
          <a:noFill/>
          <a:ln/>
        </p:spPr>
        <p:txBody>
          <a:bodyPr wrap="square" lIns="0" tIns="0" rIns="0" bIns="0" rtlCol="0" anchor="ctr"/>
          <a:lstStyle/>
          <a:p>
            <a:pPr indent="0" marL="0">
              <a:buNone/>
            </a:pPr>
            <a:r>
              <a:rPr lang="en-US" sz="1150" dirty="0">
                <a:solidFill>
                  <a:srgbClr val="C8CCDD"/>
                </a:solidFill>
                <a:latin typeface="Calibri" pitchFamily="34" charset="0"/>
                <a:ea typeface="Calibri" pitchFamily="34" charset="-122"/>
                <a:cs typeface="Calibri" pitchFamily="34" charset="-120"/>
              </a:rPr>
              <a:t>Vertical slice: create, view, edit, delete NPCs with Supabase persistence</a:t>
            </a:r>
            <a:endParaRPr lang="en-US" sz="1150" dirty="0"/>
          </a:p>
        </p:txBody>
      </p:sp>
      <p:sp>
        <p:nvSpPr>
          <p:cNvPr id="14" name="Text 12"/>
          <p:cNvSpPr/>
          <p:nvPr/>
        </p:nvSpPr>
        <p:spPr>
          <a:xfrm>
            <a:off x="2500884" y="1078992"/>
            <a:ext cx="1828800" cy="274320"/>
          </a:xfrm>
          <a:prstGeom prst="rect">
            <a:avLst/>
          </a:prstGeom>
          <a:noFill/>
          <a:ln/>
        </p:spPr>
        <p:txBody>
          <a:bodyPr wrap="square" lIns="0" tIns="0" rIns="0" bIns="0" rtlCol="0" anchor="ctr"/>
          <a:lstStyle/>
          <a:p>
            <a:pPr algn="ctr" indent="0" marL="0">
              <a:buNone/>
            </a:pPr>
            <a:r>
              <a:rPr lang="en-US" sz="1200" b="1" dirty="0">
                <a:solidFill>
                  <a:srgbClr val="8B72BE"/>
                </a:solidFill>
                <a:latin typeface="Calibri" pitchFamily="34" charset="0"/>
                <a:ea typeface="Calibri" pitchFamily="34" charset="-122"/>
                <a:cs typeface="Calibri" pitchFamily="34" charset="-120"/>
              </a:rPr>
              <a:t>Sprint 2</a:t>
            </a:r>
            <a:endParaRPr lang="en-US" sz="1200" dirty="0"/>
          </a:p>
        </p:txBody>
      </p:sp>
      <p:sp>
        <p:nvSpPr>
          <p:cNvPr id="15" name="Text 13"/>
          <p:cNvSpPr/>
          <p:nvPr/>
        </p:nvSpPr>
        <p:spPr>
          <a:xfrm>
            <a:off x="2500884" y="1371600"/>
            <a:ext cx="1828800" cy="228600"/>
          </a:xfrm>
          <a:prstGeom prst="rect">
            <a:avLst/>
          </a:prstGeom>
          <a:noFill/>
          <a:ln/>
        </p:spPr>
        <p:txBody>
          <a:bodyPr wrap="square" lIns="0" tIns="0" rIns="0" bIns="0" rtlCol="0" anchor="ctr"/>
          <a:lstStyle/>
          <a:p>
            <a:pPr algn="ctr" indent="0" marL="0">
              <a:buNone/>
            </a:pPr>
            <a:r>
              <a:rPr lang="en-US" sz="950" dirty="0">
                <a:solidFill>
                  <a:srgbClr val="7A7F9A"/>
                </a:solidFill>
                <a:latin typeface="Calibri" pitchFamily="34" charset="0"/>
                <a:ea typeface="Calibri" pitchFamily="34" charset="-122"/>
                <a:cs typeface="Calibri" pitchFamily="34" charset="-120"/>
              </a:rPr>
              <a:t>Mar 4 – Apr 21</a:t>
            </a:r>
            <a:endParaRPr lang="en-US" sz="950" dirty="0"/>
          </a:p>
        </p:txBody>
      </p:sp>
      <p:sp>
        <p:nvSpPr>
          <p:cNvPr id="16" name="Shape 14"/>
          <p:cNvSpPr/>
          <p:nvPr/>
        </p:nvSpPr>
        <p:spPr>
          <a:xfrm>
            <a:off x="3186684" y="1801368"/>
            <a:ext cx="457200" cy="457200"/>
          </a:xfrm>
          <a:prstGeom prst="ellipse">
            <a:avLst/>
          </a:prstGeom>
          <a:solidFill>
            <a:srgbClr val="8B72BE"/>
          </a:solidFill>
          <a:ln w="12700">
            <a:solidFill>
              <a:srgbClr val="8B72BE"/>
            </a:solidFill>
            <a:prstDash val="solid"/>
          </a:ln>
          <a:effectLst>
            <a:outerShdw sx="100000" sy="100000" kx="0" ky="0" algn="bl" rotWithShape="0" blurRad="50800" dist="12700" dir="8100000">
              <a:srgbClr val="000000">
                <a:alpha val="18000"/>
              </a:srgbClr>
            </a:outerShdw>
          </a:effectLst>
        </p:spPr>
      </p:sp>
      <p:sp>
        <p:nvSpPr>
          <p:cNvPr id="17" name="Text 15"/>
          <p:cNvSpPr/>
          <p:nvPr/>
        </p:nvSpPr>
        <p:spPr>
          <a:xfrm>
            <a:off x="3186684"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8" name="Shape 16"/>
          <p:cNvSpPr/>
          <p:nvPr/>
        </p:nvSpPr>
        <p:spPr>
          <a:xfrm>
            <a:off x="2432304" y="2377440"/>
            <a:ext cx="1965960" cy="2240280"/>
          </a:xfrm>
          <a:prstGeom prst="rect">
            <a:avLst/>
          </a:prstGeom>
          <a:solidFill>
            <a:srgbClr val="252A4A"/>
          </a:solidFill>
          <a:ln w="10795">
            <a:solidFill>
              <a:srgbClr val="8B72BE"/>
            </a:solidFill>
            <a:prstDash val="solid"/>
          </a:ln>
          <a:effectLst>
            <a:outerShdw sx="100000" sy="100000" kx="0" ky="0" algn="bl" rotWithShape="0" blurRad="101600" dist="25400" dir="8100000">
              <a:srgbClr val="000000">
                <a:alpha val="28000"/>
              </a:srgbClr>
            </a:outerShdw>
          </a:effectLst>
        </p:spPr>
      </p:sp>
      <p:sp>
        <p:nvSpPr>
          <p:cNvPr id="19" name="Shape 17"/>
          <p:cNvSpPr/>
          <p:nvPr/>
        </p:nvSpPr>
        <p:spPr>
          <a:xfrm>
            <a:off x="2432304" y="2377440"/>
            <a:ext cx="1965960" cy="50292"/>
          </a:xfrm>
          <a:prstGeom prst="rect">
            <a:avLst/>
          </a:prstGeom>
          <a:solidFill>
            <a:srgbClr val="8B72BE"/>
          </a:solidFill>
          <a:ln w="12700">
            <a:solidFill>
              <a:srgbClr val="8B72BE"/>
            </a:solidFill>
            <a:prstDash val="solid"/>
          </a:ln>
        </p:spPr>
      </p:sp>
      <p:sp>
        <p:nvSpPr>
          <p:cNvPr id="20" name="Text 18"/>
          <p:cNvSpPr/>
          <p:nvPr/>
        </p:nvSpPr>
        <p:spPr>
          <a:xfrm>
            <a:off x="2523744" y="2468880"/>
            <a:ext cx="1783080" cy="475488"/>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Locations + Enhancements</a:t>
            </a:r>
            <a:endParaRPr lang="en-US" sz="1350" dirty="0"/>
          </a:p>
        </p:txBody>
      </p:sp>
      <p:sp>
        <p:nvSpPr>
          <p:cNvPr id="21" name="Text 19"/>
          <p:cNvSpPr/>
          <p:nvPr/>
        </p:nvSpPr>
        <p:spPr>
          <a:xfrm>
            <a:off x="2523744" y="2980944"/>
            <a:ext cx="1783080" cy="1353312"/>
          </a:xfrm>
          <a:prstGeom prst="rect">
            <a:avLst/>
          </a:prstGeom>
          <a:noFill/>
          <a:ln/>
        </p:spPr>
        <p:txBody>
          <a:bodyPr wrap="square" lIns="0" tIns="0" rIns="0" bIns="0" rtlCol="0" anchor="ctr"/>
          <a:lstStyle/>
          <a:p>
            <a:pPr indent="0" marL="0">
              <a:buNone/>
            </a:pPr>
            <a:r>
              <a:rPr lang="en-US" sz="1150" dirty="0">
                <a:solidFill>
                  <a:srgbClr val="C8CCDD"/>
                </a:solidFill>
                <a:latin typeface="Calibri" pitchFamily="34" charset="0"/>
                <a:ea typeface="Calibri" pitchFamily="34" charset="-122"/>
                <a:cs typeface="Calibri" pitchFamily="34" charset="-120"/>
              </a:rPr>
              <a:t>Full Location CRUD, NPC image upload, flexible stat block</a:t>
            </a:r>
            <a:endParaRPr lang="en-US" sz="1150" dirty="0"/>
          </a:p>
        </p:txBody>
      </p:sp>
      <p:sp>
        <p:nvSpPr>
          <p:cNvPr id="22" name="Text 20"/>
          <p:cNvSpPr/>
          <p:nvPr/>
        </p:nvSpPr>
        <p:spPr>
          <a:xfrm>
            <a:off x="4585716" y="1078992"/>
            <a:ext cx="1828800" cy="274320"/>
          </a:xfrm>
          <a:prstGeom prst="rect">
            <a:avLst/>
          </a:prstGeom>
          <a:noFill/>
          <a:ln/>
        </p:spPr>
        <p:txBody>
          <a:bodyPr wrap="square" lIns="0" tIns="0" rIns="0" bIns="0" rtlCol="0" anchor="ctr"/>
          <a:lstStyle/>
          <a:p>
            <a:pPr algn="ctr" indent="0" marL="0">
              <a:buNone/>
            </a:pPr>
            <a:r>
              <a:rPr lang="en-US" sz="1200" b="1" dirty="0">
                <a:solidFill>
                  <a:srgbClr val="D4A847"/>
                </a:solidFill>
                <a:latin typeface="Calibri" pitchFamily="34" charset="0"/>
                <a:ea typeface="Calibri" pitchFamily="34" charset="-122"/>
                <a:cs typeface="Calibri" pitchFamily="34" charset="-120"/>
              </a:rPr>
              <a:t>Sprint 3</a:t>
            </a:r>
            <a:endParaRPr lang="en-US" sz="1200" dirty="0"/>
          </a:p>
        </p:txBody>
      </p:sp>
      <p:sp>
        <p:nvSpPr>
          <p:cNvPr id="23" name="Text 21"/>
          <p:cNvSpPr/>
          <p:nvPr/>
        </p:nvSpPr>
        <p:spPr>
          <a:xfrm>
            <a:off x="4585716" y="1371600"/>
            <a:ext cx="1828800" cy="228600"/>
          </a:xfrm>
          <a:prstGeom prst="rect">
            <a:avLst/>
          </a:prstGeom>
          <a:noFill/>
          <a:ln/>
        </p:spPr>
        <p:txBody>
          <a:bodyPr wrap="square" lIns="0" tIns="0" rIns="0" bIns="0" rtlCol="0" anchor="ctr"/>
          <a:lstStyle/>
          <a:p>
            <a:pPr algn="ctr" indent="0" marL="0">
              <a:buNone/>
            </a:pPr>
            <a:r>
              <a:rPr lang="en-US" sz="950" dirty="0">
                <a:solidFill>
                  <a:srgbClr val="7A7F9A"/>
                </a:solidFill>
                <a:latin typeface="Calibri" pitchFamily="34" charset="0"/>
                <a:ea typeface="Calibri" pitchFamily="34" charset="-122"/>
                <a:cs typeface="Calibri" pitchFamily="34" charset="-120"/>
              </a:rPr>
              <a:t>Apr 21 – May 1</a:t>
            </a:r>
            <a:endParaRPr lang="en-US" sz="950" dirty="0"/>
          </a:p>
        </p:txBody>
      </p:sp>
      <p:sp>
        <p:nvSpPr>
          <p:cNvPr id="24" name="Shape 22"/>
          <p:cNvSpPr/>
          <p:nvPr/>
        </p:nvSpPr>
        <p:spPr>
          <a:xfrm>
            <a:off x="5271516" y="1801368"/>
            <a:ext cx="457200" cy="457200"/>
          </a:xfrm>
          <a:prstGeom prst="ellipse">
            <a:avLst/>
          </a:prstGeom>
          <a:solidFill>
            <a:srgbClr val="D4A847"/>
          </a:solidFill>
          <a:ln w="12700">
            <a:solidFill>
              <a:srgbClr val="D4A847"/>
            </a:solidFill>
            <a:prstDash val="solid"/>
          </a:ln>
          <a:effectLst>
            <a:outerShdw sx="100000" sy="100000" kx="0" ky="0" algn="bl" rotWithShape="0" blurRad="50800" dist="12700" dir="8100000">
              <a:srgbClr val="000000">
                <a:alpha val="18000"/>
              </a:srgbClr>
            </a:outerShdw>
          </a:effectLst>
        </p:spPr>
      </p:sp>
      <p:sp>
        <p:nvSpPr>
          <p:cNvPr id="25" name="Text 23"/>
          <p:cNvSpPr/>
          <p:nvPr/>
        </p:nvSpPr>
        <p:spPr>
          <a:xfrm>
            <a:off x="5271516"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6" name="Shape 24"/>
          <p:cNvSpPr/>
          <p:nvPr/>
        </p:nvSpPr>
        <p:spPr>
          <a:xfrm>
            <a:off x="4517136" y="2377440"/>
            <a:ext cx="1965960" cy="2240280"/>
          </a:xfrm>
          <a:prstGeom prst="rect">
            <a:avLst/>
          </a:prstGeom>
          <a:solidFill>
            <a:srgbClr val="252A4A"/>
          </a:solidFill>
          <a:ln w="10795">
            <a:solidFill>
              <a:srgbClr val="D4A847"/>
            </a:solidFill>
            <a:prstDash val="solid"/>
          </a:ln>
          <a:effectLst>
            <a:outerShdw sx="100000" sy="100000" kx="0" ky="0" algn="bl" rotWithShape="0" blurRad="101600" dist="25400" dir="8100000">
              <a:srgbClr val="000000">
                <a:alpha val="28000"/>
              </a:srgbClr>
            </a:outerShdw>
          </a:effectLst>
        </p:spPr>
      </p:sp>
      <p:sp>
        <p:nvSpPr>
          <p:cNvPr id="27" name="Shape 25"/>
          <p:cNvSpPr/>
          <p:nvPr/>
        </p:nvSpPr>
        <p:spPr>
          <a:xfrm>
            <a:off x="4517136" y="2377440"/>
            <a:ext cx="1965960" cy="50292"/>
          </a:xfrm>
          <a:prstGeom prst="rect">
            <a:avLst/>
          </a:prstGeom>
          <a:solidFill>
            <a:srgbClr val="D4A847"/>
          </a:solidFill>
          <a:ln w="12700">
            <a:solidFill>
              <a:srgbClr val="D4A847"/>
            </a:solidFill>
            <a:prstDash val="solid"/>
          </a:ln>
        </p:spPr>
      </p:sp>
      <p:sp>
        <p:nvSpPr>
          <p:cNvPr id="28" name="Text 26"/>
          <p:cNvSpPr/>
          <p:nvPr/>
        </p:nvSpPr>
        <p:spPr>
          <a:xfrm>
            <a:off x="4608576" y="2468880"/>
            <a:ext cx="1783080" cy="475488"/>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Factions &amp; Sessions</a:t>
            </a:r>
            <a:endParaRPr lang="en-US" sz="1350" dirty="0"/>
          </a:p>
        </p:txBody>
      </p:sp>
      <p:sp>
        <p:nvSpPr>
          <p:cNvPr id="29" name="Text 27"/>
          <p:cNvSpPr/>
          <p:nvPr/>
        </p:nvSpPr>
        <p:spPr>
          <a:xfrm>
            <a:off x="4608576" y="2980944"/>
            <a:ext cx="1783080" cy="1353312"/>
          </a:xfrm>
          <a:prstGeom prst="rect">
            <a:avLst/>
          </a:prstGeom>
          <a:noFill/>
          <a:ln/>
        </p:spPr>
        <p:txBody>
          <a:bodyPr wrap="square" lIns="0" tIns="0" rIns="0" bIns="0" rtlCol="0" anchor="ctr"/>
          <a:lstStyle/>
          <a:p>
            <a:pPr indent="0" marL="0">
              <a:buNone/>
            </a:pPr>
            <a:r>
              <a:rPr lang="en-US" sz="1150" dirty="0">
                <a:solidFill>
                  <a:srgbClr val="C8CCDD"/>
                </a:solidFill>
                <a:latin typeface="Calibri" pitchFamily="34" charset="0"/>
                <a:ea typeface="Calibri" pitchFamily="34" charset="-122"/>
                <a:cs typeface="Calibri" pitchFamily="34" charset="-120"/>
              </a:rPr>
              <a:t>Faction system, session logs, NPC tagging, sorting and filtering</a:t>
            </a:r>
            <a:endParaRPr lang="en-US" sz="1150" dirty="0"/>
          </a:p>
        </p:txBody>
      </p:sp>
      <p:sp>
        <p:nvSpPr>
          <p:cNvPr id="30" name="Text 28"/>
          <p:cNvSpPr/>
          <p:nvPr/>
        </p:nvSpPr>
        <p:spPr>
          <a:xfrm>
            <a:off x="6670548" y="1078992"/>
            <a:ext cx="1828800" cy="274320"/>
          </a:xfrm>
          <a:prstGeom prst="rect">
            <a:avLst/>
          </a:prstGeom>
          <a:noFill/>
          <a:ln/>
        </p:spPr>
        <p:txBody>
          <a:bodyPr wrap="square" lIns="0" tIns="0" rIns="0" bIns="0" rtlCol="0" anchor="ctr"/>
          <a:lstStyle/>
          <a:p>
            <a:pPr algn="ctr" indent="0" marL="0">
              <a:buNone/>
            </a:pPr>
            <a:r>
              <a:rPr lang="en-US" sz="1200" b="1" dirty="0">
                <a:solidFill>
                  <a:srgbClr val="8B72BE"/>
                </a:solidFill>
                <a:latin typeface="Calibri" pitchFamily="34" charset="0"/>
                <a:ea typeface="Calibri" pitchFamily="34" charset="-122"/>
                <a:cs typeface="Calibri" pitchFamily="34" charset="-120"/>
              </a:rPr>
              <a:t>Sprint 4</a:t>
            </a:r>
            <a:endParaRPr lang="en-US" sz="1200" dirty="0"/>
          </a:p>
        </p:txBody>
      </p:sp>
      <p:sp>
        <p:nvSpPr>
          <p:cNvPr id="31" name="Text 29"/>
          <p:cNvSpPr/>
          <p:nvPr/>
        </p:nvSpPr>
        <p:spPr>
          <a:xfrm>
            <a:off x="6670548" y="1371600"/>
            <a:ext cx="1828800" cy="228600"/>
          </a:xfrm>
          <a:prstGeom prst="rect">
            <a:avLst/>
          </a:prstGeom>
          <a:noFill/>
          <a:ln/>
        </p:spPr>
        <p:txBody>
          <a:bodyPr wrap="square" lIns="0" tIns="0" rIns="0" bIns="0" rtlCol="0" anchor="ctr"/>
          <a:lstStyle/>
          <a:p>
            <a:pPr algn="ctr" indent="0" marL="0">
              <a:buNone/>
            </a:pPr>
            <a:r>
              <a:rPr lang="en-US" sz="950" dirty="0">
                <a:solidFill>
                  <a:srgbClr val="7A7F9A"/>
                </a:solidFill>
                <a:latin typeface="Calibri" pitchFamily="34" charset="0"/>
                <a:ea typeface="Calibri" pitchFamily="34" charset="-122"/>
                <a:cs typeface="Calibri" pitchFamily="34" charset="-120"/>
              </a:rPr>
              <a:t>May 1 – present</a:t>
            </a:r>
            <a:endParaRPr lang="en-US" sz="950" dirty="0"/>
          </a:p>
        </p:txBody>
      </p:sp>
      <p:sp>
        <p:nvSpPr>
          <p:cNvPr id="32" name="Shape 30"/>
          <p:cNvSpPr/>
          <p:nvPr/>
        </p:nvSpPr>
        <p:spPr>
          <a:xfrm>
            <a:off x="7356348" y="1801368"/>
            <a:ext cx="457200" cy="457200"/>
          </a:xfrm>
          <a:prstGeom prst="ellipse">
            <a:avLst/>
          </a:prstGeom>
          <a:solidFill>
            <a:srgbClr val="8B72BE"/>
          </a:solidFill>
          <a:ln w="12700">
            <a:solidFill>
              <a:srgbClr val="8B72BE"/>
            </a:solidFill>
            <a:prstDash val="solid"/>
          </a:ln>
          <a:effectLst>
            <a:outerShdw sx="100000" sy="100000" kx="0" ky="0" algn="bl" rotWithShape="0" blurRad="50800" dist="12700" dir="8100000">
              <a:srgbClr val="000000">
                <a:alpha val="18000"/>
              </a:srgbClr>
            </a:outerShdw>
          </a:effectLst>
        </p:spPr>
      </p:sp>
      <p:sp>
        <p:nvSpPr>
          <p:cNvPr id="33" name="Text 31"/>
          <p:cNvSpPr/>
          <p:nvPr/>
        </p:nvSpPr>
        <p:spPr>
          <a:xfrm>
            <a:off x="7356348"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4" name="Shape 32"/>
          <p:cNvSpPr/>
          <p:nvPr/>
        </p:nvSpPr>
        <p:spPr>
          <a:xfrm>
            <a:off x="6601968" y="2377440"/>
            <a:ext cx="1965960" cy="2240280"/>
          </a:xfrm>
          <a:prstGeom prst="rect">
            <a:avLst/>
          </a:prstGeom>
          <a:solidFill>
            <a:srgbClr val="252A4A"/>
          </a:solidFill>
          <a:ln w="10795">
            <a:solidFill>
              <a:srgbClr val="8B72BE"/>
            </a:solidFill>
            <a:prstDash val="solid"/>
          </a:ln>
          <a:effectLst>
            <a:outerShdw sx="100000" sy="100000" kx="0" ky="0" algn="bl" rotWithShape="0" blurRad="101600" dist="25400" dir="8100000">
              <a:srgbClr val="000000">
                <a:alpha val="28000"/>
              </a:srgbClr>
            </a:outerShdw>
          </a:effectLst>
        </p:spPr>
      </p:sp>
      <p:sp>
        <p:nvSpPr>
          <p:cNvPr id="35" name="Shape 33"/>
          <p:cNvSpPr/>
          <p:nvPr/>
        </p:nvSpPr>
        <p:spPr>
          <a:xfrm>
            <a:off x="6601968" y="2377440"/>
            <a:ext cx="1965960" cy="50292"/>
          </a:xfrm>
          <a:prstGeom prst="rect">
            <a:avLst/>
          </a:prstGeom>
          <a:solidFill>
            <a:srgbClr val="8B72BE"/>
          </a:solidFill>
          <a:ln w="12700">
            <a:solidFill>
              <a:srgbClr val="8B72BE"/>
            </a:solidFill>
            <a:prstDash val="solid"/>
          </a:ln>
        </p:spPr>
      </p:sp>
      <p:sp>
        <p:nvSpPr>
          <p:cNvPr id="36" name="Text 34"/>
          <p:cNvSpPr/>
          <p:nvPr/>
        </p:nvSpPr>
        <p:spPr>
          <a:xfrm>
            <a:off x="6693408" y="2468880"/>
            <a:ext cx="1783080" cy="475488"/>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Visualization</a:t>
            </a:r>
            <a:endParaRPr lang="en-US" sz="1350" dirty="0"/>
          </a:p>
        </p:txBody>
      </p:sp>
      <p:sp>
        <p:nvSpPr>
          <p:cNvPr id="37" name="Text 35"/>
          <p:cNvSpPr/>
          <p:nvPr/>
        </p:nvSpPr>
        <p:spPr>
          <a:xfrm>
            <a:off x="6693408" y="2980944"/>
            <a:ext cx="1783080" cy="1353312"/>
          </a:xfrm>
          <a:prstGeom prst="rect">
            <a:avLst/>
          </a:prstGeom>
          <a:noFill/>
          <a:ln/>
        </p:spPr>
        <p:txBody>
          <a:bodyPr wrap="square" lIns="0" tIns="0" rIns="0" bIns="0" rtlCol="0" anchor="ctr"/>
          <a:lstStyle/>
          <a:p>
            <a:pPr indent="0" marL="0">
              <a:buNone/>
            </a:pPr>
            <a:r>
              <a:rPr lang="en-US" sz="1150" dirty="0">
                <a:solidFill>
                  <a:srgbClr val="C8CCDD"/>
                </a:solidFill>
                <a:latin typeface="Calibri" pitchFamily="34" charset="0"/>
                <a:ea typeface="Calibri" pitchFamily="34" charset="-122"/>
                <a:cs typeface="Calibri" pitchFamily="34" charset="-120"/>
              </a:rPr>
              <a:t>Relationship graph, timeline, map, entity-location linking</a:t>
            </a:r>
            <a:endParaRPr lang="en-US" sz="1150" dirty="0"/>
          </a:p>
        </p:txBody>
      </p:sp>
      <p:sp>
        <p:nvSpPr>
          <p:cNvPr id="38" name="Text 36"/>
          <p:cNvSpPr/>
          <p:nvPr/>
        </p:nvSpPr>
        <p:spPr>
          <a:xfrm>
            <a:off x="6739128" y="4325112"/>
            <a:ext cx="1691640" cy="228600"/>
          </a:xfrm>
          <a:prstGeom prst="rect">
            <a:avLst/>
          </a:prstGeom>
          <a:noFill/>
          <a:ln/>
        </p:spPr>
        <p:txBody>
          <a:bodyPr wrap="square" lIns="0" tIns="0" rIns="0" bIns="0" rtlCol="0" anchor="ctr"/>
          <a:lstStyle/>
          <a:p>
            <a:pPr algn="ctr" indent="0" marL="0">
              <a:buNone/>
            </a:pPr>
            <a:r>
              <a:rPr lang="en-US" sz="950" b="1" dirty="0">
                <a:solidFill>
                  <a:srgbClr val="8B72BE"/>
                </a:solidFill>
                <a:latin typeface="Calibri" pitchFamily="34" charset="0"/>
                <a:ea typeface="Calibri" pitchFamily="34" charset="-122"/>
                <a:cs typeface="Calibri" pitchFamily="34" charset="-120"/>
              </a:rPr>
              <a:t>IN PROGRESS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METRICS</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Team Velocity</a:t>
            </a:r>
            <a:endParaRPr lang="en-US" sz="3400" dirty="0"/>
          </a:p>
        </p:txBody>
      </p:sp>
      <p:sp>
        <p:nvSpPr>
          <p:cNvPr id="5" name="Shape 3"/>
          <p:cNvSpPr/>
          <p:nvPr/>
        </p:nvSpPr>
        <p:spPr>
          <a:xfrm>
            <a:off x="320040" y="1078992"/>
            <a:ext cx="3657600" cy="694944"/>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6" name="Shape 4"/>
          <p:cNvSpPr/>
          <p:nvPr/>
        </p:nvSpPr>
        <p:spPr>
          <a:xfrm>
            <a:off x="320040" y="1078992"/>
            <a:ext cx="64008" cy="694944"/>
          </a:xfrm>
          <a:prstGeom prst="rect">
            <a:avLst/>
          </a:prstGeom>
          <a:solidFill>
            <a:srgbClr val="D4A847"/>
          </a:solidFill>
          <a:ln w="12700">
            <a:solidFill>
              <a:srgbClr val="D4A847"/>
            </a:solidFill>
            <a:prstDash val="solid"/>
          </a:ln>
        </p:spPr>
      </p:sp>
      <p:sp>
        <p:nvSpPr>
          <p:cNvPr id="7" name="Text 5"/>
          <p:cNvSpPr/>
          <p:nvPr/>
        </p:nvSpPr>
        <p:spPr>
          <a:xfrm>
            <a:off x="530352" y="1133856"/>
            <a:ext cx="1371600" cy="219456"/>
          </a:xfrm>
          <a:prstGeom prst="rect">
            <a:avLst/>
          </a:prstGeom>
          <a:noFill/>
          <a:ln/>
        </p:spPr>
        <p:txBody>
          <a:bodyPr wrap="square" lIns="0" tIns="0" rIns="0" bIns="0" rtlCol="0" anchor="ctr"/>
          <a:lstStyle/>
          <a:p>
            <a:pPr indent="0" marL="0">
              <a:buNone/>
            </a:pPr>
            <a:r>
              <a:rPr lang="en-US" sz="1000" dirty="0">
                <a:solidFill>
                  <a:srgbClr val="7A7F9A"/>
                </a:solidFill>
                <a:latin typeface="Calibri" pitchFamily="34" charset="0"/>
                <a:ea typeface="Calibri" pitchFamily="34" charset="-122"/>
                <a:cs typeface="Calibri" pitchFamily="34" charset="-120"/>
              </a:rPr>
              <a:t>Sprint 1</a:t>
            </a:r>
            <a:endParaRPr lang="en-US" sz="1000" dirty="0"/>
          </a:p>
        </p:txBody>
      </p:sp>
      <p:sp>
        <p:nvSpPr>
          <p:cNvPr id="8" name="Text 6"/>
          <p:cNvSpPr/>
          <p:nvPr/>
        </p:nvSpPr>
        <p:spPr>
          <a:xfrm>
            <a:off x="530352" y="1353312"/>
            <a:ext cx="1188720" cy="347472"/>
          </a:xfrm>
          <a:prstGeom prst="rect">
            <a:avLst/>
          </a:prstGeom>
          <a:noFill/>
          <a:ln/>
        </p:spPr>
        <p:txBody>
          <a:bodyPr wrap="square" lIns="0" tIns="0" rIns="0" bIns="0" rtlCol="0" anchor="ctr"/>
          <a:lstStyle/>
          <a:p>
            <a:pPr indent="0" marL="0">
              <a:buNone/>
            </a:pPr>
            <a:r>
              <a:rPr lang="en-US" sz="1900" b="1" dirty="0">
                <a:solidFill>
                  <a:srgbClr val="D4A847"/>
                </a:solidFill>
                <a:latin typeface="Georgia" pitchFamily="34" charset="0"/>
                <a:ea typeface="Georgia" pitchFamily="34" charset="-122"/>
                <a:cs typeface="Georgia" pitchFamily="34" charset="-120"/>
              </a:rPr>
              <a:t>18 SP</a:t>
            </a:r>
            <a:endParaRPr lang="en-US" sz="1900" dirty="0"/>
          </a:p>
        </p:txBody>
      </p:sp>
      <p:sp>
        <p:nvSpPr>
          <p:cNvPr id="9" name="Text 7"/>
          <p:cNvSpPr/>
          <p:nvPr/>
        </p:nvSpPr>
        <p:spPr>
          <a:xfrm>
            <a:off x="1828800" y="1207008"/>
            <a:ext cx="2057400" cy="457200"/>
          </a:xfrm>
          <a:prstGeom prst="rect">
            <a:avLst/>
          </a:prstGeom>
          <a:noFill/>
          <a:ln/>
        </p:spPr>
        <p:txBody>
          <a:bodyPr wrap="square" lIns="0" tIns="0" rIns="0" bIns="0" rtlCol="0" anchor="ctr"/>
          <a:lstStyle/>
          <a:p>
            <a:pPr indent="0" marL="0">
              <a:buNone/>
            </a:pPr>
            <a:r>
              <a:rPr lang="en-US" sz="1050" dirty="0">
                <a:solidFill>
                  <a:srgbClr val="C8CCDD"/>
                </a:solidFill>
                <a:latin typeface="Calibri" pitchFamily="34" charset="0"/>
                <a:ea typeface="Calibri" pitchFamily="34" charset="-122"/>
                <a:cs typeface="Calibri" pitchFamily="34" charset="-120"/>
              </a:rPr>
              <a:t>Baseline · NPC vertical slice</a:t>
            </a:r>
            <a:endParaRPr lang="en-US" sz="1050" dirty="0"/>
          </a:p>
        </p:txBody>
      </p:sp>
      <p:sp>
        <p:nvSpPr>
          <p:cNvPr id="10" name="Shape 8"/>
          <p:cNvSpPr/>
          <p:nvPr/>
        </p:nvSpPr>
        <p:spPr>
          <a:xfrm>
            <a:off x="320040" y="1883664"/>
            <a:ext cx="3657600" cy="694944"/>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11" name="Shape 9"/>
          <p:cNvSpPr/>
          <p:nvPr/>
        </p:nvSpPr>
        <p:spPr>
          <a:xfrm>
            <a:off x="320040" y="1883664"/>
            <a:ext cx="64008" cy="694944"/>
          </a:xfrm>
          <a:prstGeom prst="rect">
            <a:avLst/>
          </a:prstGeom>
          <a:solidFill>
            <a:srgbClr val="D4A847"/>
          </a:solidFill>
          <a:ln w="12700">
            <a:solidFill>
              <a:srgbClr val="D4A847"/>
            </a:solidFill>
            <a:prstDash val="solid"/>
          </a:ln>
        </p:spPr>
      </p:sp>
      <p:sp>
        <p:nvSpPr>
          <p:cNvPr id="12" name="Text 10"/>
          <p:cNvSpPr/>
          <p:nvPr/>
        </p:nvSpPr>
        <p:spPr>
          <a:xfrm>
            <a:off x="530352" y="1938528"/>
            <a:ext cx="1371600" cy="219456"/>
          </a:xfrm>
          <a:prstGeom prst="rect">
            <a:avLst/>
          </a:prstGeom>
          <a:noFill/>
          <a:ln/>
        </p:spPr>
        <p:txBody>
          <a:bodyPr wrap="square" lIns="0" tIns="0" rIns="0" bIns="0" rtlCol="0" anchor="ctr"/>
          <a:lstStyle/>
          <a:p>
            <a:pPr indent="0" marL="0">
              <a:buNone/>
            </a:pPr>
            <a:r>
              <a:rPr lang="en-US" sz="1000" dirty="0">
                <a:solidFill>
                  <a:srgbClr val="7A7F9A"/>
                </a:solidFill>
                <a:latin typeface="Calibri" pitchFamily="34" charset="0"/>
                <a:ea typeface="Calibri" pitchFamily="34" charset="-122"/>
                <a:cs typeface="Calibri" pitchFamily="34" charset="-120"/>
              </a:rPr>
              <a:t>Sprint 2</a:t>
            </a:r>
            <a:endParaRPr lang="en-US" sz="1000" dirty="0"/>
          </a:p>
        </p:txBody>
      </p:sp>
      <p:sp>
        <p:nvSpPr>
          <p:cNvPr id="13" name="Text 11"/>
          <p:cNvSpPr/>
          <p:nvPr/>
        </p:nvSpPr>
        <p:spPr>
          <a:xfrm>
            <a:off x="530352" y="2157984"/>
            <a:ext cx="1188720" cy="347472"/>
          </a:xfrm>
          <a:prstGeom prst="rect">
            <a:avLst/>
          </a:prstGeom>
          <a:noFill/>
          <a:ln/>
        </p:spPr>
        <p:txBody>
          <a:bodyPr wrap="square" lIns="0" tIns="0" rIns="0" bIns="0" rtlCol="0" anchor="ctr"/>
          <a:lstStyle/>
          <a:p>
            <a:pPr indent="0" marL="0">
              <a:buNone/>
            </a:pPr>
            <a:r>
              <a:rPr lang="en-US" sz="1900" b="1" dirty="0">
                <a:solidFill>
                  <a:srgbClr val="D4A847"/>
                </a:solidFill>
                <a:latin typeface="Georgia" pitchFamily="34" charset="0"/>
                <a:ea typeface="Georgia" pitchFamily="34" charset="-122"/>
                <a:cs typeface="Georgia" pitchFamily="34" charset="-120"/>
              </a:rPr>
              <a:t>24 SP</a:t>
            </a:r>
            <a:endParaRPr lang="en-US" sz="1900" dirty="0"/>
          </a:p>
        </p:txBody>
      </p:sp>
      <p:sp>
        <p:nvSpPr>
          <p:cNvPr id="14" name="Text 12"/>
          <p:cNvSpPr/>
          <p:nvPr/>
        </p:nvSpPr>
        <p:spPr>
          <a:xfrm>
            <a:off x="1828800" y="2011680"/>
            <a:ext cx="2057400" cy="457200"/>
          </a:xfrm>
          <a:prstGeom prst="rect">
            <a:avLst/>
          </a:prstGeom>
          <a:noFill/>
          <a:ln/>
        </p:spPr>
        <p:txBody>
          <a:bodyPr wrap="square" lIns="0" tIns="0" rIns="0" bIns="0" rtlCol="0" anchor="ctr"/>
          <a:lstStyle/>
          <a:p>
            <a:pPr indent="0" marL="0">
              <a:buNone/>
            </a:pPr>
            <a:r>
              <a:rPr lang="en-US" sz="1050" dirty="0">
                <a:solidFill>
                  <a:srgbClr val="C8CCDD"/>
                </a:solidFill>
                <a:latin typeface="Calibri" pitchFamily="34" charset="0"/>
                <a:ea typeface="Calibri" pitchFamily="34" charset="-122"/>
                <a:cs typeface="Calibri" pitchFamily="34" charset="-120"/>
              </a:rPr>
              <a:t>+33%  · Locations + enhancements</a:t>
            </a:r>
            <a:endParaRPr lang="en-US" sz="1050" dirty="0"/>
          </a:p>
        </p:txBody>
      </p:sp>
      <p:sp>
        <p:nvSpPr>
          <p:cNvPr id="15" name="Shape 13"/>
          <p:cNvSpPr/>
          <p:nvPr/>
        </p:nvSpPr>
        <p:spPr>
          <a:xfrm>
            <a:off x="320040" y="2688336"/>
            <a:ext cx="3657600" cy="694944"/>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16" name="Shape 14"/>
          <p:cNvSpPr/>
          <p:nvPr/>
        </p:nvSpPr>
        <p:spPr>
          <a:xfrm>
            <a:off x="320040" y="2688336"/>
            <a:ext cx="64008" cy="694944"/>
          </a:xfrm>
          <a:prstGeom prst="rect">
            <a:avLst/>
          </a:prstGeom>
          <a:solidFill>
            <a:srgbClr val="D4A847"/>
          </a:solidFill>
          <a:ln w="12700">
            <a:solidFill>
              <a:srgbClr val="D4A847"/>
            </a:solidFill>
            <a:prstDash val="solid"/>
          </a:ln>
        </p:spPr>
      </p:sp>
      <p:sp>
        <p:nvSpPr>
          <p:cNvPr id="17" name="Text 15"/>
          <p:cNvSpPr/>
          <p:nvPr/>
        </p:nvSpPr>
        <p:spPr>
          <a:xfrm>
            <a:off x="530352" y="2743200"/>
            <a:ext cx="1371600" cy="219456"/>
          </a:xfrm>
          <a:prstGeom prst="rect">
            <a:avLst/>
          </a:prstGeom>
          <a:noFill/>
          <a:ln/>
        </p:spPr>
        <p:txBody>
          <a:bodyPr wrap="square" lIns="0" tIns="0" rIns="0" bIns="0" rtlCol="0" anchor="ctr"/>
          <a:lstStyle/>
          <a:p>
            <a:pPr indent="0" marL="0">
              <a:buNone/>
            </a:pPr>
            <a:r>
              <a:rPr lang="en-US" sz="1000" dirty="0">
                <a:solidFill>
                  <a:srgbClr val="7A7F9A"/>
                </a:solidFill>
                <a:latin typeface="Calibri" pitchFamily="34" charset="0"/>
                <a:ea typeface="Calibri" pitchFamily="34" charset="-122"/>
                <a:cs typeface="Calibri" pitchFamily="34" charset="-120"/>
              </a:rPr>
              <a:t>Sprint 3</a:t>
            </a:r>
            <a:endParaRPr lang="en-US" sz="1000" dirty="0"/>
          </a:p>
        </p:txBody>
      </p:sp>
      <p:sp>
        <p:nvSpPr>
          <p:cNvPr id="18" name="Text 16"/>
          <p:cNvSpPr/>
          <p:nvPr/>
        </p:nvSpPr>
        <p:spPr>
          <a:xfrm>
            <a:off x="530352" y="2962656"/>
            <a:ext cx="1188720" cy="347472"/>
          </a:xfrm>
          <a:prstGeom prst="rect">
            <a:avLst/>
          </a:prstGeom>
          <a:noFill/>
          <a:ln/>
        </p:spPr>
        <p:txBody>
          <a:bodyPr wrap="square" lIns="0" tIns="0" rIns="0" bIns="0" rtlCol="0" anchor="ctr"/>
          <a:lstStyle/>
          <a:p>
            <a:pPr indent="0" marL="0">
              <a:buNone/>
            </a:pPr>
            <a:r>
              <a:rPr lang="en-US" sz="1900" b="1" dirty="0">
                <a:solidFill>
                  <a:srgbClr val="D4A847"/>
                </a:solidFill>
                <a:latin typeface="Georgia" pitchFamily="34" charset="0"/>
                <a:ea typeface="Georgia" pitchFamily="34" charset="-122"/>
                <a:cs typeface="Georgia" pitchFamily="34" charset="-120"/>
              </a:rPr>
              <a:t>32 SP</a:t>
            </a:r>
            <a:endParaRPr lang="en-US" sz="1900" dirty="0"/>
          </a:p>
        </p:txBody>
      </p:sp>
      <p:sp>
        <p:nvSpPr>
          <p:cNvPr id="19" name="Text 17"/>
          <p:cNvSpPr/>
          <p:nvPr/>
        </p:nvSpPr>
        <p:spPr>
          <a:xfrm>
            <a:off x="1828800" y="2816352"/>
            <a:ext cx="2057400" cy="457200"/>
          </a:xfrm>
          <a:prstGeom prst="rect">
            <a:avLst/>
          </a:prstGeom>
          <a:noFill/>
          <a:ln/>
        </p:spPr>
        <p:txBody>
          <a:bodyPr wrap="square" lIns="0" tIns="0" rIns="0" bIns="0" rtlCol="0" anchor="ctr"/>
          <a:lstStyle/>
          <a:p>
            <a:pPr indent="0" marL="0">
              <a:buNone/>
            </a:pPr>
            <a:r>
              <a:rPr lang="en-US" sz="1050" dirty="0">
                <a:solidFill>
                  <a:srgbClr val="C8CCDD"/>
                </a:solidFill>
                <a:latin typeface="Calibri" pitchFamily="34" charset="0"/>
                <a:ea typeface="Calibri" pitchFamily="34" charset="-122"/>
                <a:cs typeface="Calibri" pitchFamily="34" charset="-120"/>
              </a:rPr>
              <a:t>+33%  · Factions + sessions</a:t>
            </a:r>
            <a:endParaRPr lang="en-US" sz="1050" dirty="0"/>
          </a:p>
        </p:txBody>
      </p:sp>
      <p:sp>
        <p:nvSpPr>
          <p:cNvPr id="20" name="Shape 18"/>
          <p:cNvSpPr/>
          <p:nvPr/>
        </p:nvSpPr>
        <p:spPr>
          <a:xfrm>
            <a:off x="320040" y="3493008"/>
            <a:ext cx="3657600" cy="694944"/>
          </a:xfrm>
          <a:prstGeom prst="rect">
            <a:avLst/>
          </a:prstGeom>
          <a:solidFill>
            <a:srgbClr val="252A4A"/>
          </a:solidFill>
          <a:ln w="6350">
            <a:solidFill>
              <a:srgbClr val="8B72BE"/>
            </a:solidFill>
            <a:prstDash val="solid"/>
          </a:ln>
          <a:effectLst>
            <a:outerShdw sx="100000" sy="100000" kx="0" ky="0" algn="bl" rotWithShape="0" blurRad="50800" dist="12700" dir="8100000">
              <a:srgbClr val="000000">
                <a:alpha val="18000"/>
              </a:srgbClr>
            </a:outerShdw>
          </a:effectLst>
        </p:spPr>
      </p:sp>
      <p:sp>
        <p:nvSpPr>
          <p:cNvPr id="21" name="Shape 19"/>
          <p:cNvSpPr/>
          <p:nvPr/>
        </p:nvSpPr>
        <p:spPr>
          <a:xfrm>
            <a:off x="320040" y="3493008"/>
            <a:ext cx="64008" cy="694944"/>
          </a:xfrm>
          <a:prstGeom prst="rect">
            <a:avLst/>
          </a:prstGeom>
          <a:solidFill>
            <a:srgbClr val="8B72BE"/>
          </a:solidFill>
          <a:ln w="12700">
            <a:solidFill>
              <a:srgbClr val="8B72BE"/>
            </a:solidFill>
            <a:prstDash val="solid"/>
          </a:ln>
        </p:spPr>
      </p:sp>
      <p:sp>
        <p:nvSpPr>
          <p:cNvPr id="22" name="Text 20"/>
          <p:cNvSpPr/>
          <p:nvPr/>
        </p:nvSpPr>
        <p:spPr>
          <a:xfrm>
            <a:off x="530352" y="3547872"/>
            <a:ext cx="1371600" cy="219456"/>
          </a:xfrm>
          <a:prstGeom prst="rect">
            <a:avLst/>
          </a:prstGeom>
          <a:noFill/>
          <a:ln/>
        </p:spPr>
        <p:txBody>
          <a:bodyPr wrap="square" lIns="0" tIns="0" rIns="0" bIns="0" rtlCol="0" anchor="ctr"/>
          <a:lstStyle/>
          <a:p>
            <a:pPr indent="0" marL="0">
              <a:buNone/>
            </a:pPr>
            <a:r>
              <a:rPr lang="en-US" sz="1000" dirty="0">
                <a:solidFill>
                  <a:srgbClr val="7A7F9A"/>
                </a:solidFill>
                <a:latin typeface="Calibri" pitchFamily="34" charset="0"/>
                <a:ea typeface="Calibri" pitchFamily="34" charset="-122"/>
                <a:cs typeface="Calibri" pitchFamily="34" charset="-120"/>
              </a:rPr>
              <a:t>Sprint 4</a:t>
            </a:r>
            <a:endParaRPr lang="en-US" sz="1000" dirty="0"/>
          </a:p>
        </p:txBody>
      </p:sp>
      <p:sp>
        <p:nvSpPr>
          <p:cNvPr id="23" name="Text 21"/>
          <p:cNvSpPr/>
          <p:nvPr/>
        </p:nvSpPr>
        <p:spPr>
          <a:xfrm>
            <a:off x="530352" y="3767328"/>
            <a:ext cx="1188720" cy="347472"/>
          </a:xfrm>
          <a:prstGeom prst="rect">
            <a:avLst/>
          </a:prstGeom>
          <a:noFill/>
          <a:ln/>
        </p:spPr>
        <p:txBody>
          <a:bodyPr wrap="square" lIns="0" tIns="0" rIns="0" bIns="0" rtlCol="0" anchor="ctr"/>
          <a:lstStyle/>
          <a:p>
            <a:pPr indent="0" marL="0">
              <a:buNone/>
            </a:pPr>
            <a:r>
              <a:rPr lang="en-US" sz="1900" b="1" dirty="0">
                <a:solidFill>
                  <a:srgbClr val="8B72BE"/>
                </a:solidFill>
                <a:latin typeface="Georgia" pitchFamily="34" charset="0"/>
                <a:ea typeface="Georgia" pitchFamily="34" charset="-122"/>
                <a:cs typeface="Georgia" pitchFamily="34" charset="-120"/>
              </a:rPr>
              <a:t>40 SP</a:t>
            </a:r>
            <a:endParaRPr lang="en-US" sz="1900" dirty="0"/>
          </a:p>
        </p:txBody>
      </p:sp>
      <p:sp>
        <p:nvSpPr>
          <p:cNvPr id="24" name="Text 22"/>
          <p:cNvSpPr/>
          <p:nvPr/>
        </p:nvSpPr>
        <p:spPr>
          <a:xfrm>
            <a:off x="1828800" y="3621024"/>
            <a:ext cx="2057400" cy="457200"/>
          </a:xfrm>
          <a:prstGeom prst="rect">
            <a:avLst/>
          </a:prstGeom>
          <a:noFill/>
          <a:ln/>
        </p:spPr>
        <p:txBody>
          <a:bodyPr wrap="square" lIns="0" tIns="0" rIns="0" bIns="0" rtlCol="0" anchor="ctr"/>
          <a:lstStyle/>
          <a:p>
            <a:pPr indent="0" marL="0">
              <a:buNone/>
            </a:pPr>
            <a:r>
              <a:rPr lang="en-US" sz="1050" dirty="0">
                <a:solidFill>
                  <a:srgbClr val="C8CCDD"/>
                </a:solidFill>
                <a:latin typeface="Calibri" pitchFamily="34" charset="0"/>
                <a:ea typeface="Calibri" pitchFamily="34" charset="-122"/>
                <a:cs typeface="Calibri" pitchFamily="34" charset="-120"/>
              </a:rPr>
              <a:t>Projected · Visualization layer</a:t>
            </a:r>
            <a:endParaRPr lang="en-US" sz="1050" dirty="0"/>
          </a:p>
        </p:txBody>
      </p:sp>
      <p:sp>
        <p:nvSpPr>
          <p:cNvPr id="25" name="Text 23"/>
          <p:cNvSpPr/>
          <p:nvPr/>
        </p:nvSpPr>
        <p:spPr>
          <a:xfrm>
            <a:off x="320040" y="4315968"/>
            <a:ext cx="3657600" cy="201168"/>
          </a:xfrm>
          <a:prstGeom prst="rect">
            <a:avLst/>
          </a:prstGeom>
          <a:noFill/>
          <a:ln/>
        </p:spPr>
        <p:txBody>
          <a:bodyPr wrap="square" lIns="0" tIns="0" rIns="0" bIns="0" rtlCol="0" anchor="ctr"/>
          <a:lstStyle/>
          <a:p>
            <a:pPr indent="0" marL="0">
              <a:buNone/>
            </a:pPr>
            <a:r>
              <a:rPr lang="en-US" sz="950" i="1" dirty="0">
                <a:solidFill>
                  <a:srgbClr val="7A7F9A"/>
                </a:solidFill>
                <a:latin typeface="Calibri" pitchFamily="34" charset="0"/>
                <a:ea typeface="Calibri" pitchFamily="34" charset="-122"/>
                <a:cs typeface="Calibri" pitchFamily="34" charset="-120"/>
              </a:rPr>
              <a:t>* Sprint 4 projected</a:t>
            </a:r>
            <a:endParaRPr lang="en-US" sz="950" dirty="0"/>
          </a:p>
        </p:txBody>
      </p:sp>
      <p:graphicFrame>
        <p:nvGraphicFramePr>
          <p:cNvPr id="26" name="Chart 0" descr=""/>
          <p:cNvGraphicFramePr/>
          <p:nvPr/>
        </p:nvGraphicFramePr>
        <p:xfrm>
          <a:off x="4160520" y="1051560"/>
          <a:ext cx="4663440" cy="361188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p:nvPr/>
        </p:nvSpPr>
        <p:spPr>
          <a:xfrm>
            <a:off x="4160520" y="4690872"/>
            <a:ext cx="4663440" cy="256032"/>
          </a:xfrm>
          <a:prstGeom prst="rect">
            <a:avLst/>
          </a:prstGeom>
          <a:noFill/>
          <a:ln/>
        </p:spPr>
        <p:txBody>
          <a:bodyPr wrap="square" lIns="0" tIns="0" rIns="0" bIns="0" rtlCol="0" anchor="ctr"/>
          <a:lstStyle/>
          <a:p>
            <a:pPr indent="0" marL="0">
              <a:buNone/>
            </a:pPr>
            <a:r>
              <a:rPr lang="en-US" sz="1000" i="1" dirty="0">
                <a:solidFill>
                  <a:srgbClr val="7A7F9A"/>
                </a:solidFill>
                <a:latin typeface="Calibri" pitchFamily="34" charset="0"/>
                <a:ea typeface="Calibri" pitchFamily="34" charset="-122"/>
                <a:cs typeface="Calibri" pitchFamily="34" charset="-120"/>
              </a:rPr>
              <a:t>* Sprint 4 value is a projected estimate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PLANNING</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Release Plan</a:t>
            </a:r>
            <a:endParaRPr lang="en-US" sz="3400" dirty="0"/>
          </a:p>
        </p:txBody>
      </p:sp>
      <p:sp>
        <p:nvSpPr>
          <p:cNvPr id="5" name="Shape 3"/>
          <p:cNvSpPr/>
          <p:nvPr/>
        </p:nvSpPr>
        <p:spPr>
          <a:xfrm>
            <a:off x="347472" y="1115568"/>
            <a:ext cx="1901952" cy="1078992"/>
          </a:xfrm>
          <a:prstGeom prst="rect">
            <a:avLst/>
          </a:prstGeom>
          <a:solidFill>
            <a:srgbClr val="252A4A"/>
          </a:solidFill>
          <a:ln w="12700">
            <a:solidFill>
              <a:srgbClr val="D4A847"/>
            </a:solidFill>
            <a:prstDash val="solid"/>
          </a:ln>
          <a:effectLst>
            <a:outerShdw sx="100000" sy="100000" kx="0" ky="0" algn="bl" rotWithShape="0" blurRad="50800" dist="12700" dir="8100000">
              <a:srgbClr val="000000">
                <a:alpha val="18000"/>
              </a:srgbClr>
            </a:outerShdw>
          </a:effectLst>
        </p:spPr>
      </p:sp>
      <p:sp>
        <p:nvSpPr>
          <p:cNvPr id="6" name="Shape 4"/>
          <p:cNvSpPr/>
          <p:nvPr/>
        </p:nvSpPr>
        <p:spPr>
          <a:xfrm>
            <a:off x="347472" y="1115568"/>
            <a:ext cx="1901952" cy="50292"/>
          </a:xfrm>
          <a:prstGeom prst="rect">
            <a:avLst/>
          </a:prstGeom>
          <a:solidFill>
            <a:srgbClr val="D4A847"/>
          </a:solidFill>
          <a:ln w="12700">
            <a:solidFill>
              <a:srgbClr val="D4A847"/>
            </a:solidFill>
            <a:prstDash val="solid"/>
          </a:ln>
        </p:spPr>
      </p:sp>
      <p:sp>
        <p:nvSpPr>
          <p:cNvPr id="7" name="Text 5"/>
          <p:cNvSpPr/>
          <p:nvPr/>
        </p:nvSpPr>
        <p:spPr>
          <a:xfrm>
            <a:off x="438912" y="1188720"/>
            <a:ext cx="1719072" cy="256032"/>
          </a:xfrm>
          <a:prstGeom prst="rect">
            <a:avLst/>
          </a:prstGeom>
          <a:noFill/>
          <a:ln/>
        </p:spPr>
        <p:txBody>
          <a:bodyPr wrap="square" lIns="0" tIns="0" rIns="0" bIns="0" rtlCol="0" anchor="ctr"/>
          <a:lstStyle/>
          <a:p>
            <a:pPr indent="0" marL="0">
              <a:buNone/>
            </a:pPr>
            <a:r>
              <a:rPr lang="en-US" sz="1000" b="1" dirty="0">
                <a:solidFill>
                  <a:srgbClr val="D4A847"/>
                </a:solidFill>
                <a:latin typeface="Calibri" pitchFamily="34" charset="0"/>
                <a:ea typeface="Calibri" pitchFamily="34" charset="-122"/>
                <a:cs typeface="Calibri" pitchFamily="34" charset="-120"/>
              </a:rPr>
              <a:t>S1</a:t>
            </a:r>
            <a:endParaRPr lang="en-US" sz="1000" dirty="0"/>
          </a:p>
        </p:txBody>
      </p:sp>
      <p:sp>
        <p:nvSpPr>
          <p:cNvPr id="8" name="Text 6"/>
          <p:cNvSpPr/>
          <p:nvPr/>
        </p:nvSpPr>
        <p:spPr>
          <a:xfrm>
            <a:off x="438912" y="1444752"/>
            <a:ext cx="1719072" cy="7132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NPC</a:t>
            </a:r>
            <a:endParaRPr lang="en-US" sz="1400" dirty="0"/>
          </a:p>
          <a:p>
            <a:pPr indent="0" marL="0">
              <a:buNone/>
            </a:pPr>
            <a:r>
              <a:rPr lang="en-US" sz="1400" b="1" dirty="0">
                <a:solidFill>
                  <a:srgbClr val="FFFFFF"/>
                </a:solidFill>
                <a:latin typeface="Georgia" pitchFamily="34" charset="0"/>
                <a:ea typeface="Georgia" pitchFamily="34" charset="-122"/>
                <a:cs typeface="Georgia" pitchFamily="34" charset="-120"/>
              </a:rPr>
              <a:t>Management</a:t>
            </a:r>
            <a:endParaRPr lang="en-US" sz="1400" dirty="0"/>
          </a:p>
        </p:txBody>
      </p:sp>
      <p:sp>
        <p:nvSpPr>
          <p:cNvPr id="9" name="Shape 7"/>
          <p:cNvSpPr/>
          <p:nvPr/>
        </p:nvSpPr>
        <p:spPr>
          <a:xfrm>
            <a:off x="2267712" y="1636776"/>
            <a:ext cx="109728" cy="36576"/>
          </a:xfrm>
          <a:prstGeom prst="rect">
            <a:avLst/>
          </a:prstGeom>
          <a:solidFill>
            <a:srgbClr val="7A7F9A"/>
          </a:solidFill>
          <a:ln w="12700">
            <a:solidFill>
              <a:srgbClr val="7A7F9A"/>
            </a:solidFill>
            <a:prstDash val="solid"/>
          </a:ln>
        </p:spPr>
      </p:sp>
      <p:sp>
        <p:nvSpPr>
          <p:cNvPr id="10" name="Text 8"/>
          <p:cNvSpPr/>
          <p:nvPr/>
        </p:nvSpPr>
        <p:spPr>
          <a:xfrm>
            <a:off x="2212848" y="1490472"/>
            <a:ext cx="219456" cy="329184"/>
          </a:xfrm>
          <a:prstGeom prst="rect">
            <a:avLst/>
          </a:prstGeom>
          <a:noFill/>
          <a:ln/>
        </p:spPr>
        <p:txBody>
          <a:bodyPr wrap="square" lIns="0" tIns="0" rIns="0" bIns="0" rtlCol="0" anchor="ctr"/>
          <a:lstStyle/>
          <a:p>
            <a:pPr algn="ctr" indent="0" marL="0">
              <a:buNone/>
            </a:pPr>
            <a:r>
              <a:rPr lang="en-US" sz="1400" b="1" dirty="0">
                <a:solidFill>
                  <a:srgbClr val="7A7F9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2414016" y="1115568"/>
            <a:ext cx="1901952" cy="1078992"/>
          </a:xfrm>
          <a:prstGeom prst="rect">
            <a:avLst/>
          </a:prstGeom>
          <a:solidFill>
            <a:srgbClr val="252A4A"/>
          </a:solidFill>
          <a:ln w="12700">
            <a:solidFill>
              <a:srgbClr val="8B72BE"/>
            </a:solidFill>
            <a:prstDash val="solid"/>
          </a:ln>
          <a:effectLst>
            <a:outerShdw sx="100000" sy="100000" kx="0" ky="0" algn="bl" rotWithShape="0" blurRad="50800" dist="12700" dir="8100000">
              <a:srgbClr val="000000">
                <a:alpha val="18000"/>
              </a:srgbClr>
            </a:outerShdw>
          </a:effectLst>
        </p:spPr>
      </p:sp>
      <p:sp>
        <p:nvSpPr>
          <p:cNvPr id="12" name="Shape 10"/>
          <p:cNvSpPr/>
          <p:nvPr/>
        </p:nvSpPr>
        <p:spPr>
          <a:xfrm>
            <a:off x="2414016" y="1115568"/>
            <a:ext cx="1901952" cy="50292"/>
          </a:xfrm>
          <a:prstGeom prst="rect">
            <a:avLst/>
          </a:prstGeom>
          <a:solidFill>
            <a:srgbClr val="8B72BE"/>
          </a:solidFill>
          <a:ln w="12700">
            <a:solidFill>
              <a:srgbClr val="8B72BE"/>
            </a:solidFill>
            <a:prstDash val="solid"/>
          </a:ln>
        </p:spPr>
      </p:sp>
      <p:sp>
        <p:nvSpPr>
          <p:cNvPr id="13" name="Text 11"/>
          <p:cNvSpPr/>
          <p:nvPr/>
        </p:nvSpPr>
        <p:spPr>
          <a:xfrm>
            <a:off x="2505456" y="1188720"/>
            <a:ext cx="1719072" cy="256032"/>
          </a:xfrm>
          <a:prstGeom prst="rect">
            <a:avLst/>
          </a:prstGeom>
          <a:noFill/>
          <a:ln/>
        </p:spPr>
        <p:txBody>
          <a:bodyPr wrap="square" lIns="0" tIns="0" rIns="0" bIns="0" rtlCol="0" anchor="ctr"/>
          <a:lstStyle/>
          <a:p>
            <a:pPr indent="0" marL="0">
              <a:buNone/>
            </a:pPr>
            <a:r>
              <a:rPr lang="en-US" sz="1000" b="1" dirty="0">
                <a:solidFill>
                  <a:srgbClr val="8B72BE"/>
                </a:solidFill>
                <a:latin typeface="Calibri" pitchFamily="34" charset="0"/>
                <a:ea typeface="Calibri" pitchFamily="34" charset="-122"/>
                <a:cs typeface="Calibri" pitchFamily="34" charset="-120"/>
              </a:rPr>
              <a:t>S2</a:t>
            </a:r>
            <a:endParaRPr lang="en-US" sz="1000" dirty="0"/>
          </a:p>
        </p:txBody>
      </p:sp>
      <p:sp>
        <p:nvSpPr>
          <p:cNvPr id="14" name="Text 12"/>
          <p:cNvSpPr/>
          <p:nvPr/>
        </p:nvSpPr>
        <p:spPr>
          <a:xfrm>
            <a:off x="2505456" y="1444752"/>
            <a:ext cx="1719072" cy="7132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Locations &amp;</a:t>
            </a:r>
            <a:endParaRPr lang="en-US" sz="1400" dirty="0"/>
          </a:p>
          <a:p>
            <a:pPr indent="0" marL="0">
              <a:buNone/>
            </a:pPr>
            <a:r>
              <a:rPr lang="en-US" sz="1400" b="1" dirty="0">
                <a:solidFill>
                  <a:srgbClr val="FFFFFF"/>
                </a:solidFill>
                <a:latin typeface="Georgia" pitchFamily="34" charset="0"/>
                <a:ea typeface="Georgia" pitchFamily="34" charset="-122"/>
                <a:cs typeface="Georgia" pitchFamily="34" charset="-120"/>
              </a:rPr>
              <a:t>Enhancements</a:t>
            </a:r>
            <a:endParaRPr lang="en-US" sz="1400" dirty="0"/>
          </a:p>
        </p:txBody>
      </p:sp>
      <p:sp>
        <p:nvSpPr>
          <p:cNvPr id="15" name="Shape 13"/>
          <p:cNvSpPr/>
          <p:nvPr/>
        </p:nvSpPr>
        <p:spPr>
          <a:xfrm>
            <a:off x="4334256" y="1636776"/>
            <a:ext cx="109728" cy="36576"/>
          </a:xfrm>
          <a:prstGeom prst="rect">
            <a:avLst/>
          </a:prstGeom>
          <a:solidFill>
            <a:srgbClr val="7A7F9A"/>
          </a:solidFill>
          <a:ln w="12700">
            <a:solidFill>
              <a:srgbClr val="7A7F9A"/>
            </a:solidFill>
            <a:prstDash val="solid"/>
          </a:ln>
        </p:spPr>
      </p:sp>
      <p:sp>
        <p:nvSpPr>
          <p:cNvPr id="16" name="Text 14"/>
          <p:cNvSpPr/>
          <p:nvPr/>
        </p:nvSpPr>
        <p:spPr>
          <a:xfrm>
            <a:off x="4279392" y="1490472"/>
            <a:ext cx="219456" cy="329184"/>
          </a:xfrm>
          <a:prstGeom prst="rect">
            <a:avLst/>
          </a:prstGeom>
          <a:noFill/>
          <a:ln/>
        </p:spPr>
        <p:txBody>
          <a:bodyPr wrap="square" lIns="0" tIns="0" rIns="0" bIns="0" rtlCol="0" anchor="ctr"/>
          <a:lstStyle/>
          <a:p>
            <a:pPr algn="ctr" indent="0" marL="0">
              <a:buNone/>
            </a:pPr>
            <a:r>
              <a:rPr lang="en-US" sz="1400" b="1" dirty="0">
                <a:solidFill>
                  <a:srgbClr val="7A7F9A"/>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4480560" y="1115568"/>
            <a:ext cx="1901952" cy="1078992"/>
          </a:xfrm>
          <a:prstGeom prst="rect">
            <a:avLst/>
          </a:prstGeom>
          <a:solidFill>
            <a:srgbClr val="252A4A"/>
          </a:solidFill>
          <a:ln w="12700">
            <a:solidFill>
              <a:srgbClr val="D4A847"/>
            </a:solidFill>
            <a:prstDash val="solid"/>
          </a:ln>
          <a:effectLst>
            <a:outerShdw sx="100000" sy="100000" kx="0" ky="0" algn="bl" rotWithShape="0" blurRad="50800" dist="12700" dir="8100000">
              <a:srgbClr val="000000">
                <a:alpha val="18000"/>
              </a:srgbClr>
            </a:outerShdw>
          </a:effectLst>
        </p:spPr>
      </p:sp>
      <p:sp>
        <p:nvSpPr>
          <p:cNvPr id="18" name="Shape 16"/>
          <p:cNvSpPr/>
          <p:nvPr/>
        </p:nvSpPr>
        <p:spPr>
          <a:xfrm>
            <a:off x="4480560" y="1115568"/>
            <a:ext cx="1901952" cy="50292"/>
          </a:xfrm>
          <a:prstGeom prst="rect">
            <a:avLst/>
          </a:prstGeom>
          <a:solidFill>
            <a:srgbClr val="D4A847"/>
          </a:solidFill>
          <a:ln w="12700">
            <a:solidFill>
              <a:srgbClr val="D4A847"/>
            </a:solidFill>
            <a:prstDash val="solid"/>
          </a:ln>
        </p:spPr>
      </p:sp>
      <p:sp>
        <p:nvSpPr>
          <p:cNvPr id="19" name="Text 17"/>
          <p:cNvSpPr/>
          <p:nvPr/>
        </p:nvSpPr>
        <p:spPr>
          <a:xfrm>
            <a:off x="4572000" y="1188720"/>
            <a:ext cx="1719072" cy="256032"/>
          </a:xfrm>
          <a:prstGeom prst="rect">
            <a:avLst/>
          </a:prstGeom>
          <a:noFill/>
          <a:ln/>
        </p:spPr>
        <p:txBody>
          <a:bodyPr wrap="square" lIns="0" tIns="0" rIns="0" bIns="0" rtlCol="0" anchor="ctr"/>
          <a:lstStyle/>
          <a:p>
            <a:pPr indent="0" marL="0">
              <a:buNone/>
            </a:pPr>
            <a:r>
              <a:rPr lang="en-US" sz="1000" b="1" dirty="0">
                <a:solidFill>
                  <a:srgbClr val="D4A847"/>
                </a:solidFill>
                <a:latin typeface="Calibri" pitchFamily="34" charset="0"/>
                <a:ea typeface="Calibri" pitchFamily="34" charset="-122"/>
                <a:cs typeface="Calibri" pitchFamily="34" charset="-120"/>
              </a:rPr>
              <a:t>S3</a:t>
            </a:r>
            <a:endParaRPr lang="en-US" sz="1000" dirty="0"/>
          </a:p>
        </p:txBody>
      </p:sp>
      <p:sp>
        <p:nvSpPr>
          <p:cNvPr id="20" name="Text 18"/>
          <p:cNvSpPr/>
          <p:nvPr/>
        </p:nvSpPr>
        <p:spPr>
          <a:xfrm>
            <a:off x="4572000" y="1444752"/>
            <a:ext cx="1719072" cy="7132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Factions &amp;</a:t>
            </a:r>
            <a:endParaRPr lang="en-US" sz="1400" dirty="0"/>
          </a:p>
          <a:p>
            <a:pPr indent="0" marL="0">
              <a:buNone/>
            </a:pPr>
            <a:r>
              <a:rPr lang="en-US" sz="1400" b="1" dirty="0">
                <a:solidFill>
                  <a:srgbClr val="FFFFFF"/>
                </a:solidFill>
                <a:latin typeface="Georgia" pitchFamily="34" charset="0"/>
                <a:ea typeface="Georgia" pitchFamily="34" charset="-122"/>
                <a:cs typeface="Georgia" pitchFamily="34" charset="-120"/>
              </a:rPr>
              <a:t>Sessions</a:t>
            </a:r>
            <a:endParaRPr lang="en-US" sz="1400" dirty="0"/>
          </a:p>
        </p:txBody>
      </p:sp>
      <p:sp>
        <p:nvSpPr>
          <p:cNvPr id="21" name="Shape 19"/>
          <p:cNvSpPr/>
          <p:nvPr/>
        </p:nvSpPr>
        <p:spPr>
          <a:xfrm>
            <a:off x="6400800" y="1636776"/>
            <a:ext cx="109728" cy="36576"/>
          </a:xfrm>
          <a:prstGeom prst="rect">
            <a:avLst/>
          </a:prstGeom>
          <a:solidFill>
            <a:srgbClr val="7A7F9A"/>
          </a:solidFill>
          <a:ln w="12700">
            <a:solidFill>
              <a:srgbClr val="7A7F9A"/>
            </a:solidFill>
            <a:prstDash val="solid"/>
          </a:ln>
        </p:spPr>
      </p:sp>
      <p:sp>
        <p:nvSpPr>
          <p:cNvPr id="22" name="Text 20"/>
          <p:cNvSpPr/>
          <p:nvPr/>
        </p:nvSpPr>
        <p:spPr>
          <a:xfrm>
            <a:off x="6345936" y="1490472"/>
            <a:ext cx="219456" cy="329184"/>
          </a:xfrm>
          <a:prstGeom prst="rect">
            <a:avLst/>
          </a:prstGeom>
          <a:noFill/>
          <a:ln/>
        </p:spPr>
        <p:txBody>
          <a:bodyPr wrap="square" lIns="0" tIns="0" rIns="0" bIns="0" rtlCol="0" anchor="ctr"/>
          <a:lstStyle/>
          <a:p>
            <a:pPr algn="ctr" indent="0" marL="0">
              <a:buNone/>
            </a:pPr>
            <a:r>
              <a:rPr lang="en-US" sz="1400" b="1" dirty="0">
                <a:solidFill>
                  <a:srgbClr val="7A7F9A"/>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547104" y="1115568"/>
            <a:ext cx="1901952" cy="1078992"/>
          </a:xfrm>
          <a:prstGeom prst="rect">
            <a:avLst/>
          </a:prstGeom>
          <a:solidFill>
            <a:srgbClr val="252A4A"/>
          </a:solidFill>
          <a:ln w="12700">
            <a:solidFill>
              <a:srgbClr val="8B72BE"/>
            </a:solidFill>
            <a:prstDash val="solid"/>
          </a:ln>
          <a:effectLst>
            <a:outerShdw sx="100000" sy="100000" kx="0" ky="0" algn="bl" rotWithShape="0" blurRad="50800" dist="12700" dir="8100000">
              <a:srgbClr val="000000">
                <a:alpha val="18000"/>
              </a:srgbClr>
            </a:outerShdw>
          </a:effectLst>
        </p:spPr>
      </p:sp>
      <p:sp>
        <p:nvSpPr>
          <p:cNvPr id="24" name="Shape 22"/>
          <p:cNvSpPr/>
          <p:nvPr/>
        </p:nvSpPr>
        <p:spPr>
          <a:xfrm>
            <a:off x="6547104" y="1115568"/>
            <a:ext cx="1901952" cy="50292"/>
          </a:xfrm>
          <a:prstGeom prst="rect">
            <a:avLst/>
          </a:prstGeom>
          <a:solidFill>
            <a:srgbClr val="8B72BE"/>
          </a:solidFill>
          <a:ln w="12700">
            <a:solidFill>
              <a:srgbClr val="8B72BE"/>
            </a:solidFill>
            <a:prstDash val="solid"/>
          </a:ln>
        </p:spPr>
      </p:sp>
      <p:sp>
        <p:nvSpPr>
          <p:cNvPr id="25" name="Text 23"/>
          <p:cNvSpPr/>
          <p:nvPr/>
        </p:nvSpPr>
        <p:spPr>
          <a:xfrm>
            <a:off x="6638544" y="1188720"/>
            <a:ext cx="1719072" cy="256032"/>
          </a:xfrm>
          <a:prstGeom prst="rect">
            <a:avLst/>
          </a:prstGeom>
          <a:noFill/>
          <a:ln/>
        </p:spPr>
        <p:txBody>
          <a:bodyPr wrap="square" lIns="0" tIns="0" rIns="0" bIns="0" rtlCol="0" anchor="ctr"/>
          <a:lstStyle/>
          <a:p>
            <a:pPr indent="0" marL="0">
              <a:buNone/>
            </a:pPr>
            <a:r>
              <a:rPr lang="en-US" sz="1000" b="1" dirty="0">
                <a:solidFill>
                  <a:srgbClr val="8B72BE"/>
                </a:solidFill>
                <a:latin typeface="Calibri" pitchFamily="34" charset="0"/>
                <a:ea typeface="Calibri" pitchFamily="34" charset="-122"/>
                <a:cs typeface="Calibri" pitchFamily="34" charset="-120"/>
              </a:rPr>
              <a:t>S4</a:t>
            </a:r>
            <a:endParaRPr lang="en-US" sz="1000" dirty="0"/>
          </a:p>
        </p:txBody>
      </p:sp>
      <p:sp>
        <p:nvSpPr>
          <p:cNvPr id="26" name="Text 24"/>
          <p:cNvSpPr/>
          <p:nvPr/>
        </p:nvSpPr>
        <p:spPr>
          <a:xfrm>
            <a:off x="6638544" y="1444752"/>
            <a:ext cx="1719072" cy="7132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Visualization</a:t>
            </a:r>
            <a:endParaRPr lang="en-US" sz="1400" dirty="0"/>
          </a:p>
        </p:txBody>
      </p:sp>
      <p:sp>
        <p:nvSpPr>
          <p:cNvPr id="27" name="Text 25"/>
          <p:cNvSpPr/>
          <p:nvPr/>
        </p:nvSpPr>
        <p:spPr>
          <a:xfrm>
            <a:off x="365760" y="2340864"/>
            <a:ext cx="8412480" cy="310896"/>
          </a:xfrm>
          <a:prstGeom prst="rect">
            <a:avLst/>
          </a:prstGeom>
          <a:noFill/>
          <a:ln/>
        </p:spPr>
        <p:txBody>
          <a:bodyPr wrap="square" lIns="0" tIns="0" rIns="0" bIns="0" rtlCol="0" anchor="ctr"/>
          <a:lstStyle/>
          <a:p>
            <a:pPr indent="0" marL="0">
              <a:buNone/>
            </a:pPr>
            <a:r>
              <a:rPr lang="en-US" sz="1300" i="1" dirty="0">
                <a:solidFill>
                  <a:srgbClr val="C8CCDD"/>
                </a:solidFill>
                <a:latin typeface="Calibri" pitchFamily="34" charset="0"/>
                <a:ea typeface="Calibri" pitchFamily="34" charset="-122"/>
                <a:cs typeface="Calibri" pitchFamily="34" charset="-120"/>
              </a:rPr>
              <a:t>Each sprint delivered a working, demo-able increment merged into the main branch.</a:t>
            </a:r>
            <a:endParaRPr lang="en-US" sz="1300" dirty="0"/>
          </a:p>
        </p:txBody>
      </p:sp>
      <p:sp>
        <p:nvSpPr>
          <p:cNvPr id="28" name="Text 26"/>
          <p:cNvSpPr/>
          <p:nvPr/>
        </p:nvSpPr>
        <p:spPr>
          <a:xfrm>
            <a:off x="365760" y="2779776"/>
            <a:ext cx="8412480" cy="256032"/>
          </a:xfrm>
          <a:prstGeom prst="rect">
            <a:avLst/>
          </a:prstGeom>
          <a:noFill/>
          <a:ln/>
        </p:spPr>
        <p:txBody>
          <a:bodyPr wrap="square" lIns="0" tIns="0" rIns="0" bIns="0" rtlCol="0" anchor="ctr"/>
          <a:lstStyle/>
          <a:p>
            <a:pPr indent="0" marL="0">
              <a:buNone/>
            </a:pPr>
            <a:r>
              <a:rPr lang="en-US" sz="1000" b="1" spc="300" kern="0" dirty="0">
                <a:solidFill>
                  <a:srgbClr val="D4A847"/>
                </a:solidFill>
                <a:latin typeface="Calibri" pitchFamily="34" charset="0"/>
                <a:ea typeface="Calibri" pitchFamily="34" charset="-122"/>
                <a:cs typeface="Calibri" pitchFamily="34" charset="-120"/>
              </a:rPr>
              <a:t>MILESTONES (THEMES)</a:t>
            </a:r>
            <a:endParaRPr lang="en-US" sz="1000" dirty="0"/>
          </a:p>
        </p:txBody>
      </p:sp>
      <p:sp>
        <p:nvSpPr>
          <p:cNvPr id="29" name="Shape 27"/>
          <p:cNvSpPr/>
          <p:nvPr/>
        </p:nvSpPr>
        <p:spPr>
          <a:xfrm>
            <a:off x="347472" y="3108960"/>
            <a:ext cx="1965960" cy="713232"/>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30" name="Text 28"/>
          <p:cNvSpPr/>
          <p:nvPr/>
        </p:nvSpPr>
        <p:spPr>
          <a:xfrm>
            <a:off x="438912" y="3163824"/>
            <a:ext cx="17830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Core Campaign Management</a:t>
            </a:r>
            <a:endParaRPr lang="en-US" sz="1150" dirty="0"/>
          </a:p>
        </p:txBody>
      </p:sp>
      <p:sp>
        <p:nvSpPr>
          <p:cNvPr id="31" name="Text 29"/>
          <p:cNvSpPr/>
          <p:nvPr/>
        </p:nvSpPr>
        <p:spPr>
          <a:xfrm>
            <a:off x="438912" y="3547872"/>
            <a:ext cx="1783080" cy="219456"/>
          </a:xfrm>
          <a:prstGeom prst="rect">
            <a:avLst/>
          </a:prstGeom>
          <a:noFill/>
          <a:ln/>
        </p:spPr>
        <p:txBody>
          <a:bodyPr wrap="square" lIns="0" tIns="0" rIns="0" bIns="0" rtlCol="0" anchor="ctr"/>
          <a:lstStyle/>
          <a:p>
            <a:pPr indent="0" marL="0">
              <a:buNone/>
            </a:pPr>
            <a:r>
              <a:rPr lang="en-US" sz="1050" dirty="0">
                <a:solidFill>
                  <a:srgbClr val="D4A847"/>
                </a:solidFill>
                <a:latin typeface="Calibri" pitchFamily="34" charset="0"/>
                <a:ea typeface="Calibri" pitchFamily="34" charset="-122"/>
                <a:cs typeface="Calibri" pitchFamily="34" charset="-120"/>
              </a:rPr>
              <a:t>Complete  ✓</a:t>
            </a:r>
            <a:endParaRPr lang="en-US" sz="1050" dirty="0"/>
          </a:p>
        </p:txBody>
      </p:sp>
      <p:sp>
        <p:nvSpPr>
          <p:cNvPr id="32" name="Shape 30"/>
          <p:cNvSpPr/>
          <p:nvPr/>
        </p:nvSpPr>
        <p:spPr>
          <a:xfrm>
            <a:off x="2450592" y="3108960"/>
            <a:ext cx="1965960" cy="713232"/>
          </a:xfrm>
          <a:prstGeom prst="rect">
            <a:avLst/>
          </a:prstGeom>
          <a:solidFill>
            <a:srgbClr val="252A4A"/>
          </a:solidFill>
          <a:ln w="6350">
            <a:solidFill>
              <a:srgbClr val="8B72BE"/>
            </a:solidFill>
            <a:prstDash val="solid"/>
          </a:ln>
          <a:effectLst>
            <a:outerShdw sx="100000" sy="100000" kx="0" ky="0" algn="bl" rotWithShape="0" blurRad="50800" dist="12700" dir="8100000">
              <a:srgbClr val="000000">
                <a:alpha val="18000"/>
              </a:srgbClr>
            </a:outerShdw>
          </a:effectLst>
        </p:spPr>
      </p:sp>
      <p:sp>
        <p:nvSpPr>
          <p:cNvPr id="33" name="Text 31"/>
          <p:cNvSpPr/>
          <p:nvPr/>
        </p:nvSpPr>
        <p:spPr>
          <a:xfrm>
            <a:off x="2542032" y="3163824"/>
            <a:ext cx="17830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Factions &amp; Relationships</a:t>
            </a:r>
            <a:endParaRPr lang="en-US" sz="1150" dirty="0"/>
          </a:p>
        </p:txBody>
      </p:sp>
      <p:sp>
        <p:nvSpPr>
          <p:cNvPr id="34" name="Text 32"/>
          <p:cNvSpPr/>
          <p:nvPr/>
        </p:nvSpPr>
        <p:spPr>
          <a:xfrm>
            <a:off x="2542032" y="3547872"/>
            <a:ext cx="1783080" cy="219456"/>
          </a:xfrm>
          <a:prstGeom prst="rect">
            <a:avLst/>
          </a:prstGeom>
          <a:noFill/>
          <a:ln/>
        </p:spPr>
        <p:txBody>
          <a:bodyPr wrap="square" lIns="0" tIns="0" rIns="0" bIns="0" rtlCol="0" anchor="ctr"/>
          <a:lstStyle/>
          <a:p>
            <a:pPr indent="0" marL="0">
              <a:buNone/>
            </a:pPr>
            <a:r>
              <a:rPr lang="en-US" sz="1050" dirty="0">
                <a:solidFill>
                  <a:srgbClr val="8B72BE"/>
                </a:solidFill>
                <a:latin typeface="Calibri" pitchFamily="34" charset="0"/>
                <a:ea typeface="Calibri" pitchFamily="34" charset="-122"/>
                <a:cs typeface="Calibri" pitchFamily="34" charset="-120"/>
              </a:rPr>
              <a:t>Complete  ✓</a:t>
            </a:r>
            <a:endParaRPr lang="en-US" sz="1050" dirty="0"/>
          </a:p>
        </p:txBody>
      </p:sp>
      <p:sp>
        <p:nvSpPr>
          <p:cNvPr id="35" name="Shape 33"/>
          <p:cNvSpPr/>
          <p:nvPr/>
        </p:nvSpPr>
        <p:spPr>
          <a:xfrm>
            <a:off x="4553712" y="3108960"/>
            <a:ext cx="1965960" cy="713232"/>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36" name="Text 34"/>
          <p:cNvSpPr/>
          <p:nvPr/>
        </p:nvSpPr>
        <p:spPr>
          <a:xfrm>
            <a:off x="4645152" y="3163824"/>
            <a:ext cx="17830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Session Tracking</a:t>
            </a:r>
            <a:endParaRPr lang="en-US" sz="1150" dirty="0"/>
          </a:p>
        </p:txBody>
      </p:sp>
      <p:sp>
        <p:nvSpPr>
          <p:cNvPr id="37" name="Text 35"/>
          <p:cNvSpPr/>
          <p:nvPr/>
        </p:nvSpPr>
        <p:spPr>
          <a:xfrm>
            <a:off x="4645152" y="3547872"/>
            <a:ext cx="1783080" cy="219456"/>
          </a:xfrm>
          <a:prstGeom prst="rect">
            <a:avLst/>
          </a:prstGeom>
          <a:noFill/>
          <a:ln/>
        </p:spPr>
        <p:txBody>
          <a:bodyPr wrap="square" lIns="0" tIns="0" rIns="0" bIns="0" rtlCol="0" anchor="ctr"/>
          <a:lstStyle/>
          <a:p>
            <a:pPr indent="0" marL="0">
              <a:buNone/>
            </a:pPr>
            <a:r>
              <a:rPr lang="en-US" sz="1050" dirty="0">
                <a:solidFill>
                  <a:srgbClr val="D4A847"/>
                </a:solidFill>
                <a:latin typeface="Calibri" pitchFamily="34" charset="0"/>
                <a:ea typeface="Calibri" pitchFamily="34" charset="-122"/>
                <a:cs typeface="Calibri" pitchFamily="34" charset="-120"/>
              </a:rPr>
              <a:t>Complete  ✓</a:t>
            </a:r>
            <a:endParaRPr lang="en-US" sz="1050" dirty="0"/>
          </a:p>
        </p:txBody>
      </p:sp>
      <p:sp>
        <p:nvSpPr>
          <p:cNvPr id="38" name="Shape 36"/>
          <p:cNvSpPr/>
          <p:nvPr/>
        </p:nvSpPr>
        <p:spPr>
          <a:xfrm>
            <a:off x="6656832" y="3108960"/>
            <a:ext cx="1965960" cy="713232"/>
          </a:xfrm>
          <a:prstGeom prst="rect">
            <a:avLst/>
          </a:prstGeom>
          <a:solidFill>
            <a:srgbClr val="252A4A"/>
          </a:solidFill>
          <a:ln w="6350">
            <a:solidFill>
              <a:srgbClr val="8B72BE"/>
            </a:solidFill>
            <a:prstDash val="solid"/>
          </a:ln>
          <a:effectLst>
            <a:outerShdw sx="100000" sy="100000" kx="0" ky="0" algn="bl" rotWithShape="0" blurRad="50800" dist="12700" dir="8100000">
              <a:srgbClr val="000000">
                <a:alpha val="18000"/>
              </a:srgbClr>
            </a:outerShdw>
          </a:effectLst>
        </p:spPr>
      </p:sp>
      <p:sp>
        <p:nvSpPr>
          <p:cNvPr id="39" name="Text 37"/>
          <p:cNvSpPr/>
          <p:nvPr/>
        </p:nvSpPr>
        <p:spPr>
          <a:xfrm>
            <a:off x="6748272" y="3163824"/>
            <a:ext cx="178308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Visualization</a:t>
            </a:r>
            <a:endParaRPr lang="en-US" sz="1150" dirty="0"/>
          </a:p>
        </p:txBody>
      </p:sp>
      <p:sp>
        <p:nvSpPr>
          <p:cNvPr id="40" name="Text 38"/>
          <p:cNvSpPr/>
          <p:nvPr/>
        </p:nvSpPr>
        <p:spPr>
          <a:xfrm>
            <a:off x="6748272" y="3547872"/>
            <a:ext cx="1783080" cy="219456"/>
          </a:xfrm>
          <a:prstGeom prst="rect">
            <a:avLst/>
          </a:prstGeom>
          <a:noFill/>
          <a:ln/>
        </p:spPr>
        <p:txBody>
          <a:bodyPr wrap="square" lIns="0" tIns="0" rIns="0" bIns="0" rtlCol="0" anchor="ctr"/>
          <a:lstStyle/>
          <a:p>
            <a:pPr indent="0" marL="0">
              <a:buNone/>
            </a:pPr>
            <a:r>
              <a:rPr lang="en-US" sz="1050" dirty="0">
                <a:solidFill>
                  <a:srgbClr val="8B72BE"/>
                </a:solidFill>
                <a:latin typeface="Calibri" pitchFamily="34" charset="0"/>
                <a:ea typeface="Calibri" pitchFamily="34" charset="-122"/>
                <a:cs typeface="Calibri" pitchFamily="34" charset="-120"/>
              </a:rPr>
              <a:t>Sprint 4  →</a:t>
            </a:r>
            <a:endParaRPr lang="en-US" sz="1050" dirty="0"/>
          </a:p>
        </p:txBody>
      </p:sp>
      <p:sp>
        <p:nvSpPr>
          <p:cNvPr id="41" name="Text 39"/>
          <p:cNvSpPr/>
          <p:nvPr/>
        </p:nvSpPr>
        <p:spPr>
          <a:xfrm>
            <a:off x="365760" y="3977640"/>
            <a:ext cx="8412480" cy="310896"/>
          </a:xfrm>
          <a:prstGeom prst="rect">
            <a:avLst/>
          </a:prstGeom>
          <a:noFill/>
          <a:ln/>
        </p:spPr>
        <p:txBody>
          <a:bodyPr wrap="square" lIns="0" tIns="0" rIns="0" bIns="0" rtlCol="0" anchor="ctr"/>
          <a:lstStyle/>
          <a:p>
            <a:pPr indent="0" marL="0">
              <a:buNone/>
            </a:pPr>
            <a:r>
              <a:rPr lang="en-US" sz="1200" i="1" dirty="0">
                <a:solidFill>
                  <a:srgbClr val="7A7F9A"/>
                </a:solidFill>
                <a:latin typeface="Calibri" pitchFamily="34" charset="0"/>
                <a:ea typeface="Calibri" pitchFamily="34" charset="-122"/>
                <a:cs typeface="Calibri" pitchFamily="34" charset="-120"/>
              </a:rPr>
              <a:t>Functionality arc:  NPC  →  Location  →  Faction  →  Session  →  Visualization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ARTIFACTS</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Agile Artifacts</a:t>
            </a:r>
            <a:endParaRPr lang="en-US" sz="3400" dirty="0"/>
          </a:p>
        </p:txBody>
      </p:sp>
      <p:sp>
        <p:nvSpPr>
          <p:cNvPr id="5" name="Shape 3"/>
          <p:cNvSpPr/>
          <p:nvPr/>
        </p:nvSpPr>
        <p:spPr>
          <a:xfrm>
            <a:off x="320040" y="1078992"/>
            <a:ext cx="4160520" cy="640080"/>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6" name="Shape 4"/>
          <p:cNvSpPr/>
          <p:nvPr/>
        </p:nvSpPr>
        <p:spPr>
          <a:xfrm>
            <a:off x="420624" y="1170432"/>
            <a:ext cx="457200" cy="457200"/>
          </a:xfrm>
          <a:prstGeom prst="ellipse">
            <a:avLst/>
          </a:prstGeom>
          <a:solidFill>
            <a:srgbClr val="D4A847"/>
          </a:solidFill>
          <a:ln w="12700">
            <a:solidFill>
              <a:srgbClr val="D4A847"/>
            </a:solidFill>
            <a:prstDash val="solid"/>
          </a:ln>
        </p:spPr>
      </p:sp>
      <p:sp>
        <p:nvSpPr>
          <p:cNvPr id="7" name="Text 5"/>
          <p:cNvSpPr/>
          <p:nvPr/>
        </p:nvSpPr>
        <p:spPr>
          <a:xfrm>
            <a:off x="420624" y="11704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1005840" y="1124712"/>
            <a:ext cx="1463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Product Backlog</a:t>
            </a:r>
            <a:endParaRPr lang="en-US" sz="1300" dirty="0"/>
          </a:p>
        </p:txBody>
      </p:sp>
      <p:sp>
        <p:nvSpPr>
          <p:cNvPr id="9" name="Text 7"/>
          <p:cNvSpPr/>
          <p:nvPr/>
        </p:nvSpPr>
        <p:spPr>
          <a:xfrm>
            <a:off x="1005840" y="1408176"/>
            <a:ext cx="3383280" cy="256032"/>
          </a:xfrm>
          <a:prstGeom prst="rect">
            <a:avLst/>
          </a:prstGeom>
          <a:noFill/>
          <a:ln/>
        </p:spPr>
        <p:txBody>
          <a:bodyPr wrap="square" lIns="0" tIns="0" rIns="0" bIns="0" rtlCol="0" anchor="ctr"/>
          <a:lstStyle/>
          <a:p>
            <a:pPr indent="0" marL="0">
              <a:buNone/>
            </a:pPr>
            <a:r>
              <a:rPr lang="en-US" sz="1100" dirty="0">
                <a:solidFill>
                  <a:srgbClr val="C8CCDD"/>
                </a:solidFill>
                <a:latin typeface="Calibri" pitchFamily="34" charset="0"/>
                <a:ea typeface="Calibri" pitchFamily="34" charset="-122"/>
                <a:cs typeface="Calibri" pitchFamily="34" charset="-120"/>
              </a:rPr>
              <a:t>GitHub Issues — As a DM… stories with acceptance criteria</a:t>
            </a:r>
            <a:endParaRPr lang="en-US" sz="1100" dirty="0"/>
          </a:p>
        </p:txBody>
      </p:sp>
      <p:sp>
        <p:nvSpPr>
          <p:cNvPr id="10" name="Shape 8"/>
          <p:cNvSpPr/>
          <p:nvPr/>
        </p:nvSpPr>
        <p:spPr>
          <a:xfrm>
            <a:off x="320040" y="1828800"/>
            <a:ext cx="4160520" cy="640080"/>
          </a:xfrm>
          <a:prstGeom prst="rect">
            <a:avLst/>
          </a:prstGeom>
          <a:solidFill>
            <a:srgbClr val="252A4A"/>
          </a:solidFill>
          <a:ln w="6350">
            <a:solidFill>
              <a:srgbClr val="8B72BE"/>
            </a:solidFill>
            <a:prstDash val="solid"/>
          </a:ln>
          <a:effectLst>
            <a:outerShdw sx="100000" sy="100000" kx="0" ky="0" algn="bl" rotWithShape="0" blurRad="50800" dist="12700" dir="8100000">
              <a:srgbClr val="000000">
                <a:alpha val="18000"/>
              </a:srgbClr>
            </a:outerShdw>
          </a:effectLst>
        </p:spPr>
      </p:sp>
      <p:sp>
        <p:nvSpPr>
          <p:cNvPr id="11" name="Shape 9"/>
          <p:cNvSpPr/>
          <p:nvPr/>
        </p:nvSpPr>
        <p:spPr>
          <a:xfrm>
            <a:off x="420624" y="1920240"/>
            <a:ext cx="457200" cy="457200"/>
          </a:xfrm>
          <a:prstGeom prst="ellipse">
            <a:avLst/>
          </a:prstGeom>
          <a:solidFill>
            <a:srgbClr val="8B72BE"/>
          </a:solidFill>
          <a:ln w="12700">
            <a:solidFill>
              <a:srgbClr val="8B72BE"/>
            </a:solidFill>
            <a:prstDash val="solid"/>
          </a:ln>
        </p:spPr>
      </p:sp>
      <p:sp>
        <p:nvSpPr>
          <p:cNvPr id="12" name="Text 10"/>
          <p:cNvSpPr/>
          <p:nvPr/>
        </p:nvSpPr>
        <p:spPr>
          <a:xfrm>
            <a:off x="420624"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3" name="Text 11"/>
          <p:cNvSpPr/>
          <p:nvPr/>
        </p:nvSpPr>
        <p:spPr>
          <a:xfrm>
            <a:off x="1005840" y="1874520"/>
            <a:ext cx="1463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Board</a:t>
            </a:r>
            <a:endParaRPr lang="en-US" sz="1300" dirty="0"/>
          </a:p>
        </p:txBody>
      </p:sp>
      <p:sp>
        <p:nvSpPr>
          <p:cNvPr id="14" name="Text 12"/>
          <p:cNvSpPr/>
          <p:nvPr/>
        </p:nvSpPr>
        <p:spPr>
          <a:xfrm>
            <a:off x="1005840" y="2157984"/>
            <a:ext cx="3383280" cy="256032"/>
          </a:xfrm>
          <a:prstGeom prst="rect">
            <a:avLst/>
          </a:prstGeom>
          <a:noFill/>
          <a:ln/>
        </p:spPr>
        <p:txBody>
          <a:bodyPr wrap="square" lIns="0" tIns="0" rIns="0" bIns="0" rtlCol="0" anchor="ctr"/>
          <a:lstStyle/>
          <a:p>
            <a:pPr indent="0" marL="0">
              <a:buNone/>
            </a:pPr>
            <a:r>
              <a:rPr lang="en-US" sz="1100" dirty="0">
                <a:solidFill>
                  <a:srgbClr val="C8CCDD"/>
                </a:solidFill>
                <a:latin typeface="Calibri" pitchFamily="34" charset="0"/>
                <a:ea typeface="Calibri" pitchFamily="34" charset="-122"/>
                <a:cs typeface="Calibri" pitchFamily="34" charset="-120"/>
              </a:rPr>
              <a:t>GitHub Projects board — backlog, in-progress, done columns</a:t>
            </a:r>
            <a:endParaRPr lang="en-US" sz="1100" dirty="0"/>
          </a:p>
        </p:txBody>
      </p:sp>
      <p:sp>
        <p:nvSpPr>
          <p:cNvPr id="15" name="Shape 13"/>
          <p:cNvSpPr/>
          <p:nvPr/>
        </p:nvSpPr>
        <p:spPr>
          <a:xfrm>
            <a:off x="320040" y="2578608"/>
            <a:ext cx="4160520" cy="640080"/>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16" name="Shape 14"/>
          <p:cNvSpPr/>
          <p:nvPr/>
        </p:nvSpPr>
        <p:spPr>
          <a:xfrm>
            <a:off x="420624" y="2670048"/>
            <a:ext cx="457200" cy="457200"/>
          </a:xfrm>
          <a:prstGeom prst="ellipse">
            <a:avLst/>
          </a:prstGeom>
          <a:solidFill>
            <a:srgbClr val="D4A847"/>
          </a:solidFill>
          <a:ln w="12700">
            <a:solidFill>
              <a:srgbClr val="D4A847"/>
            </a:solidFill>
            <a:prstDash val="solid"/>
          </a:ln>
        </p:spPr>
      </p:sp>
      <p:sp>
        <p:nvSpPr>
          <p:cNvPr id="17" name="Text 15"/>
          <p:cNvSpPr/>
          <p:nvPr/>
        </p:nvSpPr>
        <p:spPr>
          <a:xfrm>
            <a:off x="420624"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8" name="Text 16"/>
          <p:cNvSpPr/>
          <p:nvPr/>
        </p:nvSpPr>
        <p:spPr>
          <a:xfrm>
            <a:off x="1005840" y="2624328"/>
            <a:ext cx="1463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Burnup Charts</a:t>
            </a:r>
            <a:endParaRPr lang="en-US" sz="1300" dirty="0"/>
          </a:p>
        </p:txBody>
      </p:sp>
      <p:sp>
        <p:nvSpPr>
          <p:cNvPr id="19" name="Text 17"/>
          <p:cNvSpPr/>
          <p:nvPr/>
        </p:nvSpPr>
        <p:spPr>
          <a:xfrm>
            <a:off x="1005840" y="2907792"/>
            <a:ext cx="3383280" cy="256032"/>
          </a:xfrm>
          <a:prstGeom prst="rect">
            <a:avLst/>
          </a:prstGeom>
          <a:noFill/>
          <a:ln/>
        </p:spPr>
        <p:txBody>
          <a:bodyPr wrap="square" lIns="0" tIns="0" rIns="0" bIns="0" rtlCol="0" anchor="ctr"/>
          <a:lstStyle/>
          <a:p>
            <a:pPr indent="0" marL="0">
              <a:buNone/>
            </a:pPr>
            <a:r>
              <a:rPr lang="en-US" sz="1100" dirty="0">
                <a:solidFill>
                  <a:srgbClr val="C8CCDD"/>
                </a:solidFill>
                <a:latin typeface="Calibri" pitchFamily="34" charset="0"/>
                <a:ea typeface="Calibri" pitchFamily="34" charset="-122"/>
                <a:cs typeface="Calibri" pitchFamily="34" charset="-120"/>
              </a:rPr>
              <a:t>Per-sprint progress charts tracking closed stories vs. scope</a:t>
            </a:r>
            <a:endParaRPr lang="en-US" sz="1100" dirty="0"/>
          </a:p>
        </p:txBody>
      </p:sp>
      <p:sp>
        <p:nvSpPr>
          <p:cNvPr id="20" name="Shape 18"/>
          <p:cNvSpPr/>
          <p:nvPr/>
        </p:nvSpPr>
        <p:spPr>
          <a:xfrm>
            <a:off x="320040" y="3328416"/>
            <a:ext cx="4160520" cy="640080"/>
          </a:xfrm>
          <a:prstGeom prst="rect">
            <a:avLst/>
          </a:prstGeom>
          <a:solidFill>
            <a:srgbClr val="252A4A"/>
          </a:solidFill>
          <a:ln w="6350">
            <a:solidFill>
              <a:srgbClr val="8B72BE"/>
            </a:solidFill>
            <a:prstDash val="solid"/>
          </a:ln>
          <a:effectLst>
            <a:outerShdw sx="100000" sy="100000" kx="0" ky="0" algn="bl" rotWithShape="0" blurRad="50800" dist="12700" dir="8100000">
              <a:srgbClr val="000000">
                <a:alpha val="18000"/>
              </a:srgbClr>
            </a:outerShdw>
          </a:effectLst>
        </p:spPr>
      </p:sp>
      <p:sp>
        <p:nvSpPr>
          <p:cNvPr id="21" name="Shape 19"/>
          <p:cNvSpPr/>
          <p:nvPr/>
        </p:nvSpPr>
        <p:spPr>
          <a:xfrm>
            <a:off x="420624" y="3419856"/>
            <a:ext cx="457200" cy="457200"/>
          </a:xfrm>
          <a:prstGeom prst="ellipse">
            <a:avLst/>
          </a:prstGeom>
          <a:solidFill>
            <a:srgbClr val="8B72BE"/>
          </a:solidFill>
          <a:ln w="12700">
            <a:solidFill>
              <a:srgbClr val="8B72BE"/>
            </a:solidFill>
            <a:prstDash val="solid"/>
          </a:ln>
        </p:spPr>
      </p:sp>
      <p:sp>
        <p:nvSpPr>
          <p:cNvPr id="22" name="Text 20"/>
          <p:cNvSpPr/>
          <p:nvPr/>
        </p:nvSpPr>
        <p:spPr>
          <a:xfrm>
            <a:off x="420624" y="34198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3" name="Text 21"/>
          <p:cNvSpPr/>
          <p:nvPr/>
        </p:nvSpPr>
        <p:spPr>
          <a:xfrm>
            <a:off x="1005840" y="3374136"/>
            <a:ext cx="1463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Release Plan</a:t>
            </a:r>
            <a:endParaRPr lang="en-US" sz="1300" dirty="0"/>
          </a:p>
        </p:txBody>
      </p:sp>
      <p:sp>
        <p:nvSpPr>
          <p:cNvPr id="24" name="Text 22"/>
          <p:cNvSpPr/>
          <p:nvPr/>
        </p:nvSpPr>
        <p:spPr>
          <a:xfrm>
            <a:off x="1005840" y="3657600"/>
            <a:ext cx="3383280" cy="256032"/>
          </a:xfrm>
          <a:prstGeom prst="rect">
            <a:avLst/>
          </a:prstGeom>
          <a:noFill/>
          <a:ln/>
        </p:spPr>
        <p:txBody>
          <a:bodyPr wrap="square" lIns="0" tIns="0" rIns="0" bIns="0" rtlCol="0" anchor="ctr"/>
          <a:lstStyle/>
          <a:p>
            <a:pPr indent="0" marL="0">
              <a:buNone/>
            </a:pPr>
            <a:r>
              <a:rPr lang="en-US" sz="1100" dirty="0">
                <a:solidFill>
                  <a:srgbClr val="C8CCDD"/>
                </a:solidFill>
                <a:latin typeface="Calibri" pitchFamily="34" charset="0"/>
                <a:ea typeface="Calibri" pitchFamily="34" charset="-122"/>
                <a:cs typeface="Calibri" pitchFamily="34" charset="-120"/>
              </a:rPr>
              <a:t>Iteration → theme → outcome mapping for all four sprints</a:t>
            </a:r>
            <a:endParaRPr lang="en-US" sz="1100" dirty="0"/>
          </a:p>
        </p:txBody>
      </p:sp>
      <p:sp>
        <p:nvSpPr>
          <p:cNvPr id="25" name="Shape 23"/>
          <p:cNvSpPr/>
          <p:nvPr/>
        </p:nvSpPr>
        <p:spPr>
          <a:xfrm>
            <a:off x="320040" y="4078224"/>
            <a:ext cx="4160520" cy="640080"/>
          </a:xfrm>
          <a:prstGeom prst="rect">
            <a:avLst/>
          </a:prstGeom>
          <a:solidFill>
            <a:srgbClr val="252A4A"/>
          </a:solidFill>
          <a:ln w="6350">
            <a:solidFill>
              <a:srgbClr val="D4A847"/>
            </a:solidFill>
            <a:prstDash val="solid"/>
          </a:ln>
          <a:effectLst>
            <a:outerShdw sx="100000" sy="100000" kx="0" ky="0" algn="bl" rotWithShape="0" blurRad="50800" dist="12700" dir="8100000">
              <a:srgbClr val="000000">
                <a:alpha val="18000"/>
              </a:srgbClr>
            </a:outerShdw>
          </a:effectLst>
        </p:spPr>
      </p:sp>
      <p:sp>
        <p:nvSpPr>
          <p:cNvPr id="26" name="Shape 24"/>
          <p:cNvSpPr/>
          <p:nvPr/>
        </p:nvSpPr>
        <p:spPr>
          <a:xfrm>
            <a:off x="420624" y="4169664"/>
            <a:ext cx="457200" cy="457200"/>
          </a:xfrm>
          <a:prstGeom prst="ellipse">
            <a:avLst/>
          </a:prstGeom>
          <a:solidFill>
            <a:srgbClr val="D4A847"/>
          </a:solidFill>
          <a:ln w="12700">
            <a:solidFill>
              <a:srgbClr val="D4A847"/>
            </a:solidFill>
            <a:prstDash val="solid"/>
          </a:ln>
        </p:spPr>
      </p:sp>
      <p:sp>
        <p:nvSpPr>
          <p:cNvPr id="27" name="Text 25"/>
          <p:cNvSpPr/>
          <p:nvPr/>
        </p:nvSpPr>
        <p:spPr>
          <a:xfrm>
            <a:off x="420624" y="41696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28" name="Text 26"/>
          <p:cNvSpPr/>
          <p:nvPr/>
        </p:nvSpPr>
        <p:spPr>
          <a:xfrm>
            <a:off x="1005840" y="4123944"/>
            <a:ext cx="14630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Domain Model</a:t>
            </a:r>
            <a:endParaRPr lang="en-US" sz="1300" dirty="0"/>
          </a:p>
        </p:txBody>
      </p:sp>
      <p:sp>
        <p:nvSpPr>
          <p:cNvPr id="29" name="Text 27"/>
          <p:cNvSpPr/>
          <p:nvPr/>
        </p:nvSpPr>
        <p:spPr>
          <a:xfrm>
            <a:off x="1005840" y="4407408"/>
            <a:ext cx="3383280" cy="256032"/>
          </a:xfrm>
          <a:prstGeom prst="rect">
            <a:avLst/>
          </a:prstGeom>
          <a:noFill/>
          <a:ln/>
        </p:spPr>
        <p:txBody>
          <a:bodyPr wrap="square" lIns="0" tIns="0" rIns="0" bIns="0" rtlCol="0" anchor="ctr"/>
          <a:lstStyle/>
          <a:p>
            <a:pPr indent="0" marL="0">
              <a:buNone/>
            </a:pPr>
            <a:r>
              <a:rPr lang="en-US" sz="1100" dirty="0">
                <a:solidFill>
                  <a:srgbClr val="C8CCDD"/>
                </a:solidFill>
                <a:latin typeface="Calibri" pitchFamily="34" charset="0"/>
                <a:ea typeface="Calibri" pitchFamily="34" charset="-122"/>
                <a:cs typeface="Calibri" pitchFamily="34" charset="-120"/>
              </a:rPr>
              <a:t>UML diagram — NPC, Location, Faction, Session entities</a:t>
            </a:r>
            <a:endParaRPr lang="en-US" sz="1100" dirty="0"/>
          </a:p>
        </p:txBody>
      </p:sp>
      <p:sp>
        <p:nvSpPr>
          <p:cNvPr id="30" name="Shape 28"/>
          <p:cNvSpPr/>
          <p:nvPr/>
        </p:nvSpPr>
        <p:spPr>
          <a:xfrm>
            <a:off x="4709160" y="1078992"/>
            <a:ext cx="4114800" cy="3858768"/>
          </a:xfrm>
          <a:prstGeom prst="rect">
            <a:avLst/>
          </a:prstGeom>
          <a:solidFill>
            <a:srgbClr val="1D2140"/>
          </a:solidFill>
          <a:ln w="9525">
            <a:solidFill>
              <a:srgbClr val="D4A847"/>
            </a:solidFill>
            <a:prstDash val="solid"/>
          </a:ln>
          <a:effectLst>
            <a:outerShdw sx="100000" sy="100000" kx="0" ky="0" algn="bl" rotWithShape="0" blurRad="101600" dist="25400" dir="8100000">
              <a:srgbClr val="000000">
                <a:alpha val="28000"/>
              </a:srgbClr>
            </a:outerShdw>
          </a:effectLst>
        </p:spPr>
      </p:sp>
      <p:sp>
        <p:nvSpPr>
          <p:cNvPr id="31" name="Text 29"/>
          <p:cNvSpPr/>
          <p:nvPr/>
        </p:nvSpPr>
        <p:spPr>
          <a:xfrm>
            <a:off x="4709160" y="1152144"/>
            <a:ext cx="4114800" cy="237744"/>
          </a:xfrm>
          <a:prstGeom prst="rect">
            <a:avLst/>
          </a:prstGeom>
          <a:noFill/>
          <a:ln/>
        </p:spPr>
        <p:txBody>
          <a:bodyPr wrap="square" lIns="0" tIns="0" rIns="0" bIns="0" rtlCol="0" anchor="ctr"/>
          <a:lstStyle/>
          <a:p>
            <a:pPr algn="ctr" indent="0" marL="0">
              <a:buNone/>
            </a:pPr>
            <a:r>
              <a:rPr lang="en-US" sz="900" b="1" spc="300" kern="0" dirty="0">
                <a:solidFill>
                  <a:srgbClr val="D4A847"/>
                </a:solidFill>
                <a:latin typeface="Calibri" pitchFamily="34" charset="0"/>
                <a:ea typeface="Calibri" pitchFamily="34" charset="-122"/>
                <a:cs typeface="Calibri" pitchFamily="34" charset="-120"/>
              </a:rPr>
              <a:t>DOMAIN MODEL</a:t>
            </a:r>
            <a:endParaRPr lang="en-US" sz="900" dirty="0"/>
          </a:p>
        </p:txBody>
      </p:sp>
      <p:sp>
        <p:nvSpPr>
          <p:cNvPr id="32" name="Shape 30"/>
          <p:cNvSpPr/>
          <p:nvPr/>
        </p:nvSpPr>
        <p:spPr>
          <a:xfrm>
            <a:off x="4873752" y="1517904"/>
            <a:ext cx="1664208" cy="1298448"/>
          </a:xfrm>
          <a:prstGeom prst="rect">
            <a:avLst/>
          </a:prstGeom>
          <a:solidFill>
            <a:srgbClr val="252A4A"/>
          </a:solidFill>
          <a:ln w="7620">
            <a:solidFill>
              <a:srgbClr val="D4A847"/>
            </a:solidFill>
            <a:prstDash val="solid"/>
          </a:ln>
        </p:spPr>
      </p:sp>
      <p:sp>
        <p:nvSpPr>
          <p:cNvPr id="33" name="Shape 31"/>
          <p:cNvSpPr/>
          <p:nvPr/>
        </p:nvSpPr>
        <p:spPr>
          <a:xfrm>
            <a:off x="4873752" y="1517904"/>
            <a:ext cx="1664208" cy="274320"/>
          </a:xfrm>
          <a:prstGeom prst="rect">
            <a:avLst/>
          </a:prstGeom>
          <a:solidFill>
            <a:srgbClr val="D4A847"/>
          </a:solidFill>
          <a:ln w="12700">
            <a:solidFill>
              <a:srgbClr val="D4A847"/>
            </a:solidFill>
            <a:prstDash val="solid"/>
          </a:ln>
        </p:spPr>
      </p:sp>
      <p:sp>
        <p:nvSpPr>
          <p:cNvPr id="34" name="Text 32"/>
          <p:cNvSpPr/>
          <p:nvPr/>
        </p:nvSpPr>
        <p:spPr>
          <a:xfrm>
            <a:off x="4873752" y="1517904"/>
            <a:ext cx="1664208" cy="274320"/>
          </a:xfrm>
          <a:prstGeom prst="rect">
            <a:avLst/>
          </a:prstGeom>
          <a:noFill/>
          <a:ln/>
        </p:spPr>
        <p:txBody>
          <a:bodyPr wrap="square" lIns="0" tIns="0" rIns="0" bIns="0" rtlCol="0" anchor="ctr"/>
          <a:lstStyle/>
          <a:p>
            <a:pPr algn="ctr" indent="0" marL="0">
              <a:buNone/>
            </a:pPr>
            <a:r>
              <a:rPr lang="en-US" sz="1150" b="1" dirty="0">
                <a:solidFill>
                  <a:srgbClr val="1B1F3A"/>
                </a:solidFill>
                <a:latin typeface="Georgia" pitchFamily="34" charset="0"/>
                <a:ea typeface="Georgia" pitchFamily="34" charset="-122"/>
                <a:cs typeface="Georgia" pitchFamily="34" charset="-120"/>
              </a:rPr>
              <a:t>Faction</a:t>
            </a:r>
            <a:endParaRPr lang="en-US" sz="1150" dirty="0"/>
          </a:p>
        </p:txBody>
      </p:sp>
      <p:sp>
        <p:nvSpPr>
          <p:cNvPr id="35" name="Text 33"/>
          <p:cNvSpPr/>
          <p:nvPr/>
        </p:nvSpPr>
        <p:spPr>
          <a:xfrm>
            <a:off x="4965192" y="1828800"/>
            <a:ext cx="1481328" cy="914400"/>
          </a:xfrm>
          <a:prstGeom prst="rect">
            <a:avLst/>
          </a:prstGeom>
          <a:noFill/>
          <a:ln/>
        </p:spPr>
        <p:txBody>
          <a:bodyPr wrap="square" lIns="0" tIns="0" rIns="0" bIns="0" rtlCol="0" anchor="ctr"/>
          <a:lstStyle/>
          <a:p>
            <a:pPr indent="0" marL="0">
              <a:buNone/>
            </a:pPr>
            <a:r>
              <a:rPr lang="en-US" sz="850" dirty="0">
                <a:solidFill>
                  <a:srgbClr val="C8CCDD"/>
                </a:solidFill>
                <a:latin typeface="Courier New" pitchFamily="34" charset="0"/>
                <a:ea typeface="Courier New" pitchFamily="34" charset="-122"/>
                <a:cs typeface="Courier New" pitchFamily="34" charset="-120"/>
              </a:rPr>
              <a:t>faction_id · name</a:t>
            </a:r>
            <a:endParaRPr lang="en-US" sz="850" dirty="0"/>
          </a:p>
          <a:p>
            <a:pPr indent="0" marL="0">
              <a:buNone/>
            </a:pPr>
            <a:r>
              <a:rPr lang="en-US" sz="850" dirty="0">
                <a:solidFill>
                  <a:srgbClr val="C8CCDD"/>
                </a:solidFill>
                <a:latin typeface="Courier New" pitchFamily="34" charset="0"/>
                <a:ea typeface="Courier New" pitchFamily="34" charset="-122"/>
                <a:cs typeface="Courier New" pitchFamily="34" charset="-120"/>
              </a:rPr>
              <a:t>description · type</a:t>
            </a:r>
            <a:endParaRPr lang="en-US" sz="850" dirty="0"/>
          </a:p>
        </p:txBody>
      </p:sp>
      <p:sp>
        <p:nvSpPr>
          <p:cNvPr id="36" name="Shape 34"/>
          <p:cNvSpPr/>
          <p:nvPr/>
        </p:nvSpPr>
        <p:spPr>
          <a:xfrm>
            <a:off x="6940296" y="1517904"/>
            <a:ext cx="1664208" cy="1298448"/>
          </a:xfrm>
          <a:prstGeom prst="rect">
            <a:avLst/>
          </a:prstGeom>
          <a:solidFill>
            <a:srgbClr val="252A4A"/>
          </a:solidFill>
          <a:ln w="7620">
            <a:solidFill>
              <a:srgbClr val="D4A847"/>
            </a:solidFill>
            <a:prstDash val="solid"/>
          </a:ln>
        </p:spPr>
      </p:sp>
      <p:sp>
        <p:nvSpPr>
          <p:cNvPr id="37" name="Shape 35"/>
          <p:cNvSpPr/>
          <p:nvPr/>
        </p:nvSpPr>
        <p:spPr>
          <a:xfrm>
            <a:off x="6940296" y="1517904"/>
            <a:ext cx="1664208" cy="274320"/>
          </a:xfrm>
          <a:prstGeom prst="rect">
            <a:avLst/>
          </a:prstGeom>
          <a:solidFill>
            <a:srgbClr val="D4A847"/>
          </a:solidFill>
          <a:ln w="12700">
            <a:solidFill>
              <a:srgbClr val="D4A847"/>
            </a:solidFill>
            <a:prstDash val="solid"/>
          </a:ln>
        </p:spPr>
      </p:sp>
      <p:sp>
        <p:nvSpPr>
          <p:cNvPr id="38" name="Text 36"/>
          <p:cNvSpPr/>
          <p:nvPr/>
        </p:nvSpPr>
        <p:spPr>
          <a:xfrm>
            <a:off x="6940296" y="1517904"/>
            <a:ext cx="1664208" cy="274320"/>
          </a:xfrm>
          <a:prstGeom prst="rect">
            <a:avLst/>
          </a:prstGeom>
          <a:noFill/>
          <a:ln/>
        </p:spPr>
        <p:txBody>
          <a:bodyPr wrap="square" lIns="0" tIns="0" rIns="0" bIns="0" rtlCol="0" anchor="ctr"/>
          <a:lstStyle/>
          <a:p>
            <a:pPr algn="ctr" indent="0" marL="0">
              <a:buNone/>
            </a:pPr>
            <a:r>
              <a:rPr lang="en-US" sz="1150" b="1" dirty="0">
                <a:solidFill>
                  <a:srgbClr val="1B1F3A"/>
                </a:solidFill>
                <a:latin typeface="Georgia" pitchFamily="34" charset="0"/>
                <a:ea typeface="Georgia" pitchFamily="34" charset="-122"/>
                <a:cs typeface="Georgia" pitchFamily="34" charset="-120"/>
              </a:rPr>
              <a:t>NPC</a:t>
            </a:r>
            <a:endParaRPr lang="en-US" sz="1150" dirty="0"/>
          </a:p>
        </p:txBody>
      </p:sp>
      <p:sp>
        <p:nvSpPr>
          <p:cNvPr id="39" name="Text 37"/>
          <p:cNvSpPr/>
          <p:nvPr/>
        </p:nvSpPr>
        <p:spPr>
          <a:xfrm>
            <a:off x="7031736" y="1828800"/>
            <a:ext cx="1481328" cy="914400"/>
          </a:xfrm>
          <a:prstGeom prst="rect">
            <a:avLst/>
          </a:prstGeom>
          <a:noFill/>
          <a:ln/>
        </p:spPr>
        <p:txBody>
          <a:bodyPr wrap="square" lIns="0" tIns="0" rIns="0" bIns="0" rtlCol="0" anchor="ctr"/>
          <a:lstStyle/>
          <a:p>
            <a:pPr indent="0" marL="0">
              <a:buNone/>
            </a:pPr>
            <a:r>
              <a:rPr lang="en-US" sz="850" dirty="0">
                <a:solidFill>
                  <a:srgbClr val="C8CCDD"/>
                </a:solidFill>
                <a:latin typeface="Courier New" pitchFamily="34" charset="0"/>
                <a:ea typeface="Courier New" pitchFamily="34" charset="-122"/>
                <a:cs typeface="Courier New" pitchFamily="34" charset="-120"/>
              </a:rPr>
              <a:t>npc_id · name · status</a:t>
            </a:r>
            <a:endParaRPr lang="en-US" sz="850" dirty="0"/>
          </a:p>
          <a:p>
            <a:pPr indent="0" marL="0">
              <a:buNone/>
            </a:pPr>
            <a:r>
              <a:rPr lang="en-US" sz="850" dirty="0">
                <a:solidFill>
                  <a:srgbClr val="C8CCDD"/>
                </a:solidFill>
                <a:latin typeface="Courier New" pitchFamily="34" charset="0"/>
                <a:ea typeface="Courier New" pitchFamily="34" charset="-122"/>
                <a:cs typeface="Courier New" pitchFamily="34" charset="-120"/>
              </a:rPr>
              <a:t>description · image_url</a:t>
            </a:r>
            <a:endParaRPr lang="en-US" sz="850" dirty="0"/>
          </a:p>
          <a:p>
            <a:pPr indent="0" marL="0">
              <a:buNone/>
            </a:pPr>
            <a:r>
              <a:rPr lang="en-US" sz="850" dirty="0">
                <a:solidFill>
                  <a:srgbClr val="C8CCDD"/>
                </a:solidFill>
                <a:latin typeface="Courier New" pitchFamily="34" charset="0"/>
                <a:ea typeface="Courier New" pitchFamily="34" charset="-122"/>
                <a:cs typeface="Courier New" pitchFamily="34" charset="-120"/>
              </a:rPr>
              <a:t>stat_block</a:t>
            </a:r>
            <a:endParaRPr lang="en-US" sz="850" dirty="0"/>
          </a:p>
        </p:txBody>
      </p:sp>
      <p:sp>
        <p:nvSpPr>
          <p:cNvPr id="40" name="Shape 38"/>
          <p:cNvSpPr/>
          <p:nvPr/>
        </p:nvSpPr>
        <p:spPr>
          <a:xfrm>
            <a:off x="4873752" y="3566160"/>
            <a:ext cx="1664208" cy="1298448"/>
          </a:xfrm>
          <a:prstGeom prst="rect">
            <a:avLst/>
          </a:prstGeom>
          <a:solidFill>
            <a:srgbClr val="252A4A"/>
          </a:solidFill>
          <a:ln w="7620">
            <a:solidFill>
              <a:srgbClr val="D4A847"/>
            </a:solidFill>
            <a:prstDash val="solid"/>
          </a:ln>
        </p:spPr>
      </p:sp>
      <p:sp>
        <p:nvSpPr>
          <p:cNvPr id="41" name="Shape 39"/>
          <p:cNvSpPr/>
          <p:nvPr/>
        </p:nvSpPr>
        <p:spPr>
          <a:xfrm>
            <a:off x="4873752" y="3566160"/>
            <a:ext cx="1664208" cy="274320"/>
          </a:xfrm>
          <a:prstGeom prst="rect">
            <a:avLst/>
          </a:prstGeom>
          <a:solidFill>
            <a:srgbClr val="D4A847"/>
          </a:solidFill>
          <a:ln w="12700">
            <a:solidFill>
              <a:srgbClr val="D4A847"/>
            </a:solidFill>
            <a:prstDash val="solid"/>
          </a:ln>
        </p:spPr>
      </p:sp>
      <p:sp>
        <p:nvSpPr>
          <p:cNvPr id="42" name="Text 40"/>
          <p:cNvSpPr/>
          <p:nvPr/>
        </p:nvSpPr>
        <p:spPr>
          <a:xfrm>
            <a:off x="4873752" y="3566160"/>
            <a:ext cx="1664208" cy="274320"/>
          </a:xfrm>
          <a:prstGeom prst="rect">
            <a:avLst/>
          </a:prstGeom>
          <a:noFill/>
          <a:ln/>
        </p:spPr>
        <p:txBody>
          <a:bodyPr wrap="square" lIns="0" tIns="0" rIns="0" bIns="0" rtlCol="0" anchor="ctr"/>
          <a:lstStyle/>
          <a:p>
            <a:pPr algn="ctr" indent="0" marL="0">
              <a:buNone/>
            </a:pPr>
            <a:r>
              <a:rPr lang="en-US" sz="1150" b="1" dirty="0">
                <a:solidFill>
                  <a:srgbClr val="1B1F3A"/>
                </a:solidFill>
                <a:latin typeface="Georgia" pitchFamily="34" charset="0"/>
                <a:ea typeface="Georgia" pitchFamily="34" charset="-122"/>
                <a:cs typeface="Georgia" pitchFamily="34" charset="-120"/>
              </a:rPr>
              <a:t>Location</a:t>
            </a:r>
            <a:endParaRPr lang="en-US" sz="1150" dirty="0"/>
          </a:p>
        </p:txBody>
      </p:sp>
      <p:sp>
        <p:nvSpPr>
          <p:cNvPr id="43" name="Text 41"/>
          <p:cNvSpPr/>
          <p:nvPr/>
        </p:nvSpPr>
        <p:spPr>
          <a:xfrm>
            <a:off x="4965192" y="3877056"/>
            <a:ext cx="1481328" cy="914400"/>
          </a:xfrm>
          <a:prstGeom prst="rect">
            <a:avLst/>
          </a:prstGeom>
          <a:noFill/>
          <a:ln/>
        </p:spPr>
        <p:txBody>
          <a:bodyPr wrap="square" lIns="0" tIns="0" rIns="0" bIns="0" rtlCol="0" anchor="ctr"/>
          <a:lstStyle/>
          <a:p>
            <a:pPr indent="0" marL="0">
              <a:buNone/>
            </a:pPr>
            <a:r>
              <a:rPr lang="en-US" sz="850" dirty="0">
                <a:solidFill>
                  <a:srgbClr val="C8CCDD"/>
                </a:solidFill>
                <a:latin typeface="Courier New" pitchFamily="34" charset="0"/>
                <a:ea typeface="Courier New" pitchFamily="34" charset="-122"/>
                <a:cs typeface="Courier New" pitchFamily="34" charset="-120"/>
              </a:rPr>
              <a:t>location_id · name</a:t>
            </a:r>
            <a:endParaRPr lang="en-US" sz="850" dirty="0"/>
          </a:p>
          <a:p>
            <a:pPr indent="0" marL="0">
              <a:buNone/>
            </a:pPr>
            <a:r>
              <a:rPr lang="en-US" sz="850" dirty="0">
                <a:solidFill>
                  <a:srgbClr val="C8CCDD"/>
                </a:solidFill>
                <a:latin typeface="Courier New" pitchFamily="34" charset="0"/>
                <a:ea typeface="Courier New" pitchFamily="34" charset="-122"/>
                <a:cs typeface="Courier New" pitchFamily="34" charset="-120"/>
              </a:rPr>
              <a:t>description · region</a:t>
            </a:r>
            <a:endParaRPr lang="en-US" sz="850" dirty="0"/>
          </a:p>
        </p:txBody>
      </p:sp>
      <p:sp>
        <p:nvSpPr>
          <p:cNvPr id="44" name="Shape 42"/>
          <p:cNvSpPr/>
          <p:nvPr/>
        </p:nvSpPr>
        <p:spPr>
          <a:xfrm>
            <a:off x="6940296" y="3566160"/>
            <a:ext cx="1664208" cy="1298448"/>
          </a:xfrm>
          <a:prstGeom prst="rect">
            <a:avLst/>
          </a:prstGeom>
          <a:solidFill>
            <a:srgbClr val="252A4A"/>
          </a:solidFill>
          <a:ln w="7620">
            <a:solidFill>
              <a:srgbClr val="D4A847"/>
            </a:solidFill>
            <a:prstDash val="solid"/>
          </a:ln>
        </p:spPr>
      </p:sp>
      <p:sp>
        <p:nvSpPr>
          <p:cNvPr id="45" name="Shape 43"/>
          <p:cNvSpPr/>
          <p:nvPr/>
        </p:nvSpPr>
        <p:spPr>
          <a:xfrm>
            <a:off x="6940296" y="3566160"/>
            <a:ext cx="1664208" cy="274320"/>
          </a:xfrm>
          <a:prstGeom prst="rect">
            <a:avLst/>
          </a:prstGeom>
          <a:solidFill>
            <a:srgbClr val="D4A847"/>
          </a:solidFill>
          <a:ln w="12700">
            <a:solidFill>
              <a:srgbClr val="D4A847"/>
            </a:solidFill>
            <a:prstDash val="solid"/>
          </a:ln>
        </p:spPr>
      </p:sp>
      <p:sp>
        <p:nvSpPr>
          <p:cNvPr id="46" name="Text 44"/>
          <p:cNvSpPr/>
          <p:nvPr/>
        </p:nvSpPr>
        <p:spPr>
          <a:xfrm>
            <a:off x="6940296" y="3566160"/>
            <a:ext cx="1664208" cy="274320"/>
          </a:xfrm>
          <a:prstGeom prst="rect">
            <a:avLst/>
          </a:prstGeom>
          <a:noFill/>
          <a:ln/>
        </p:spPr>
        <p:txBody>
          <a:bodyPr wrap="square" lIns="0" tIns="0" rIns="0" bIns="0" rtlCol="0" anchor="ctr"/>
          <a:lstStyle/>
          <a:p>
            <a:pPr algn="ctr" indent="0" marL="0">
              <a:buNone/>
            </a:pPr>
            <a:r>
              <a:rPr lang="en-US" sz="1150" b="1" dirty="0">
                <a:solidFill>
                  <a:srgbClr val="1B1F3A"/>
                </a:solidFill>
                <a:latin typeface="Georgia" pitchFamily="34" charset="0"/>
                <a:ea typeface="Georgia" pitchFamily="34" charset="-122"/>
                <a:cs typeface="Georgia" pitchFamily="34" charset="-120"/>
              </a:rPr>
              <a:t>Session</a:t>
            </a:r>
            <a:endParaRPr lang="en-US" sz="1150" dirty="0"/>
          </a:p>
        </p:txBody>
      </p:sp>
      <p:sp>
        <p:nvSpPr>
          <p:cNvPr id="47" name="Text 45"/>
          <p:cNvSpPr/>
          <p:nvPr/>
        </p:nvSpPr>
        <p:spPr>
          <a:xfrm>
            <a:off x="7031736" y="3877056"/>
            <a:ext cx="1481328" cy="914400"/>
          </a:xfrm>
          <a:prstGeom prst="rect">
            <a:avLst/>
          </a:prstGeom>
          <a:noFill/>
          <a:ln/>
        </p:spPr>
        <p:txBody>
          <a:bodyPr wrap="square" lIns="0" tIns="0" rIns="0" bIns="0" rtlCol="0" anchor="ctr"/>
          <a:lstStyle/>
          <a:p>
            <a:pPr indent="0" marL="0">
              <a:buNone/>
            </a:pPr>
            <a:r>
              <a:rPr lang="en-US" sz="850" dirty="0">
                <a:solidFill>
                  <a:srgbClr val="C8CCDD"/>
                </a:solidFill>
                <a:latin typeface="Courier New" pitchFamily="34" charset="0"/>
                <a:ea typeface="Courier New" pitchFamily="34" charset="-122"/>
                <a:cs typeface="Courier New" pitchFamily="34" charset="-120"/>
              </a:rPr>
              <a:t>session_id · title</a:t>
            </a:r>
            <a:endParaRPr lang="en-US" sz="850" dirty="0"/>
          </a:p>
          <a:p>
            <a:pPr indent="0" marL="0">
              <a:buNone/>
            </a:pPr>
            <a:r>
              <a:rPr lang="en-US" sz="850" dirty="0">
                <a:solidFill>
                  <a:srgbClr val="C8CCDD"/>
                </a:solidFill>
                <a:latin typeface="Courier New" pitchFamily="34" charset="0"/>
                <a:ea typeface="Courier New" pitchFamily="34" charset="-122"/>
                <a:cs typeface="Courier New" pitchFamily="34" charset="-120"/>
              </a:rPr>
              <a:t>session_date · notes</a:t>
            </a:r>
            <a:endParaRPr lang="en-US" sz="850" dirty="0"/>
          </a:p>
        </p:txBody>
      </p:sp>
      <p:sp>
        <p:nvSpPr>
          <p:cNvPr id="48" name="Shape 46"/>
          <p:cNvSpPr/>
          <p:nvPr/>
        </p:nvSpPr>
        <p:spPr>
          <a:xfrm>
            <a:off x="6537960" y="2167128"/>
            <a:ext cx="402336" cy="0"/>
          </a:xfrm>
          <a:prstGeom prst="line">
            <a:avLst/>
          </a:prstGeom>
          <a:noFill/>
          <a:ln w="15240">
            <a:solidFill>
              <a:srgbClr val="4A5080"/>
            </a:solidFill>
            <a:prstDash val="solid"/>
          </a:ln>
        </p:spPr>
      </p:sp>
      <p:sp>
        <p:nvSpPr>
          <p:cNvPr id="49" name="Text 47"/>
          <p:cNvSpPr/>
          <p:nvPr/>
        </p:nvSpPr>
        <p:spPr>
          <a:xfrm>
            <a:off x="6464808" y="1975104"/>
            <a:ext cx="548640" cy="182880"/>
          </a:xfrm>
          <a:prstGeom prst="rect">
            <a:avLst/>
          </a:prstGeom>
          <a:noFill/>
          <a:ln/>
        </p:spPr>
        <p:txBody>
          <a:bodyPr wrap="square" lIns="0" tIns="0" rIns="0" bIns="0" rtlCol="0" anchor="ctr"/>
          <a:lstStyle/>
          <a:p>
            <a:pPr algn="ctr" indent="0" marL="0">
              <a:buNone/>
            </a:pPr>
            <a:r>
              <a:rPr lang="en-US" sz="700" dirty="0">
                <a:solidFill>
                  <a:srgbClr val="7A7F9A"/>
                </a:solidFill>
                <a:latin typeface="Calibri" pitchFamily="34" charset="0"/>
                <a:ea typeface="Calibri" pitchFamily="34" charset="-122"/>
                <a:cs typeface="Calibri" pitchFamily="34" charset="-120"/>
              </a:rPr>
              <a:t>has members</a:t>
            </a:r>
            <a:endParaRPr lang="en-US" sz="700" dirty="0"/>
          </a:p>
        </p:txBody>
      </p:sp>
      <p:sp>
        <p:nvSpPr>
          <p:cNvPr id="50" name="Shape 48"/>
          <p:cNvSpPr/>
          <p:nvPr/>
        </p:nvSpPr>
        <p:spPr>
          <a:xfrm>
            <a:off x="5705856" y="2816352"/>
            <a:ext cx="0" cy="749808"/>
          </a:xfrm>
          <a:prstGeom prst="line">
            <a:avLst/>
          </a:prstGeom>
          <a:noFill/>
          <a:ln w="15240">
            <a:solidFill>
              <a:srgbClr val="4A5080"/>
            </a:solidFill>
            <a:prstDash val="solid"/>
          </a:ln>
        </p:spPr>
      </p:sp>
      <p:sp>
        <p:nvSpPr>
          <p:cNvPr id="51" name="Text 49"/>
          <p:cNvSpPr/>
          <p:nvPr/>
        </p:nvSpPr>
        <p:spPr>
          <a:xfrm>
            <a:off x="4873752" y="3127248"/>
            <a:ext cx="1664208" cy="182880"/>
          </a:xfrm>
          <a:prstGeom prst="rect">
            <a:avLst/>
          </a:prstGeom>
          <a:noFill/>
          <a:ln/>
        </p:spPr>
        <p:txBody>
          <a:bodyPr wrap="square" lIns="0" tIns="0" rIns="0" bIns="0" rtlCol="0" anchor="ctr"/>
          <a:lstStyle/>
          <a:p>
            <a:pPr algn="ctr" indent="0" marL="0">
              <a:buNone/>
            </a:pPr>
            <a:r>
              <a:rPr lang="en-US" sz="700" dirty="0">
                <a:solidFill>
                  <a:srgbClr val="7A7F9A"/>
                </a:solidFill>
                <a:latin typeface="Calibri" pitchFamily="34" charset="0"/>
                <a:ea typeface="Calibri" pitchFamily="34" charset="-122"/>
                <a:cs typeface="Calibri" pitchFamily="34" charset="-120"/>
              </a:rPr>
              <a:t>operates in</a:t>
            </a:r>
            <a:endParaRPr lang="en-US" sz="700" dirty="0"/>
          </a:p>
        </p:txBody>
      </p:sp>
      <p:sp>
        <p:nvSpPr>
          <p:cNvPr id="52" name="Shape 50"/>
          <p:cNvSpPr/>
          <p:nvPr/>
        </p:nvSpPr>
        <p:spPr>
          <a:xfrm>
            <a:off x="7772400" y="2816352"/>
            <a:ext cx="0" cy="749808"/>
          </a:xfrm>
          <a:prstGeom prst="line">
            <a:avLst/>
          </a:prstGeom>
          <a:noFill/>
          <a:ln w="15240">
            <a:solidFill>
              <a:srgbClr val="4A5080"/>
            </a:solidFill>
            <a:prstDash val="solid"/>
          </a:ln>
        </p:spPr>
      </p:sp>
      <p:sp>
        <p:nvSpPr>
          <p:cNvPr id="53" name="Text 51"/>
          <p:cNvSpPr/>
          <p:nvPr/>
        </p:nvSpPr>
        <p:spPr>
          <a:xfrm>
            <a:off x="6940296" y="3127248"/>
            <a:ext cx="1664208" cy="182880"/>
          </a:xfrm>
          <a:prstGeom prst="rect">
            <a:avLst/>
          </a:prstGeom>
          <a:noFill/>
          <a:ln/>
        </p:spPr>
        <p:txBody>
          <a:bodyPr wrap="square" lIns="0" tIns="0" rIns="0" bIns="0" rtlCol="0" anchor="ctr"/>
          <a:lstStyle/>
          <a:p>
            <a:pPr algn="ctr" indent="0" marL="0">
              <a:buNone/>
            </a:pPr>
            <a:r>
              <a:rPr lang="en-US" sz="700" dirty="0">
                <a:solidFill>
                  <a:srgbClr val="7A7F9A"/>
                </a:solidFill>
                <a:latin typeface="Calibri" pitchFamily="34" charset="0"/>
                <a:ea typeface="Calibri" pitchFamily="34" charset="-122"/>
                <a:cs typeface="Calibri" pitchFamily="34" charset="-120"/>
              </a:rPr>
              <a:t>appears in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DEMONSTRATION</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Live Demo</a:t>
            </a:r>
            <a:endParaRPr lang="en-US" sz="3400" dirty="0"/>
          </a:p>
        </p:txBody>
      </p:sp>
      <p:sp>
        <p:nvSpPr>
          <p:cNvPr id="5" name="Shape 3"/>
          <p:cNvSpPr/>
          <p:nvPr/>
        </p:nvSpPr>
        <p:spPr>
          <a:xfrm>
            <a:off x="320040" y="1097280"/>
            <a:ext cx="4114800" cy="1719072"/>
          </a:xfrm>
          <a:prstGeom prst="rect">
            <a:avLst/>
          </a:prstGeom>
          <a:solidFill>
            <a:srgbClr val="252A4A"/>
          </a:solidFill>
          <a:ln w="12700">
            <a:solidFill>
              <a:srgbClr val="D4A847"/>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320040" y="1097280"/>
            <a:ext cx="4114800" cy="59436"/>
          </a:xfrm>
          <a:prstGeom prst="rect">
            <a:avLst/>
          </a:prstGeom>
          <a:solidFill>
            <a:srgbClr val="D4A847"/>
          </a:solidFill>
          <a:ln w="12700">
            <a:solidFill>
              <a:srgbClr val="D4A847"/>
            </a:solidFill>
            <a:prstDash val="solid"/>
          </a:ln>
        </p:spPr>
      </p:sp>
      <p:sp>
        <p:nvSpPr>
          <p:cNvPr id="7" name="Shape 5"/>
          <p:cNvSpPr/>
          <p:nvPr/>
        </p:nvSpPr>
        <p:spPr>
          <a:xfrm>
            <a:off x="457200" y="1261872"/>
            <a:ext cx="475488" cy="475488"/>
          </a:xfrm>
          <a:prstGeom prst="ellipse">
            <a:avLst/>
          </a:prstGeom>
          <a:solidFill>
            <a:srgbClr val="D4A847"/>
          </a:solidFill>
          <a:ln w="12700">
            <a:solidFill>
              <a:srgbClr val="D4A847"/>
            </a:solidFill>
            <a:prstDash val="solid"/>
          </a:ln>
        </p:spPr>
      </p:sp>
      <p:sp>
        <p:nvSpPr>
          <p:cNvPr id="8" name="Text 6"/>
          <p:cNvSpPr/>
          <p:nvPr/>
        </p:nvSpPr>
        <p:spPr>
          <a:xfrm>
            <a:off x="457200" y="126187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sp>
        <p:nvSpPr>
          <p:cNvPr id="9" name="Text 7"/>
          <p:cNvSpPr/>
          <p:nvPr/>
        </p:nvSpPr>
        <p:spPr>
          <a:xfrm>
            <a:off x="1051560" y="1261872"/>
            <a:ext cx="324612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NPC Management</a:t>
            </a:r>
            <a:endParaRPr lang="en-US" sz="1600" dirty="0"/>
          </a:p>
        </p:txBody>
      </p:sp>
      <p:sp>
        <p:nvSpPr>
          <p:cNvPr id="10" name="Text 8"/>
          <p:cNvSpPr/>
          <p:nvPr/>
        </p:nvSpPr>
        <p:spPr>
          <a:xfrm>
            <a:off x="457200" y="1847088"/>
            <a:ext cx="3840480" cy="877824"/>
          </a:xfrm>
          <a:prstGeom prst="rect">
            <a:avLst/>
          </a:prstGeom>
          <a:noFill/>
          <a:ln/>
        </p:spPr>
        <p:txBody>
          <a:bodyPr wrap="square" lIns="0" tIns="0" rIns="0" bIns="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Core workflow: create, view, edit, delete NPCs — with image upload, stat block, and persistent Supabase storage.</a:t>
            </a:r>
            <a:endParaRPr lang="en-US" sz="1250" dirty="0"/>
          </a:p>
        </p:txBody>
      </p:sp>
      <p:sp>
        <p:nvSpPr>
          <p:cNvPr id="11" name="Shape 9"/>
          <p:cNvSpPr/>
          <p:nvPr/>
        </p:nvSpPr>
        <p:spPr>
          <a:xfrm>
            <a:off x="4709160" y="1097280"/>
            <a:ext cx="4114800" cy="1719072"/>
          </a:xfrm>
          <a:prstGeom prst="rect">
            <a:avLst/>
          </a:prstGeom>
          <a:solidFill>
            <a:srgbClr val="252A4A"/>
          </a:solidFill>
          <a:ln w="12700">
            <a:solidFill>
              <a:srgbClr val="8B72BE"/>
            </a:solidFill>
            <a:prstDash val="solid"/>
          </a:ln>
          <a:effectLst>
            <a:outerShdw sx="100000" sy="100000" kx="0" ky="0" algn="bl" rotWithShape="0" blurRad="101600" dist="25400" dir="8100000">
              <a:srgbClr val="000000">
                <a:alpha val="28000"/>
              </a:srgbClr>
            </a:outerShdw>
          </a:effectLst>
        </p:spPr>
      </p:sp>
      <p:sp>
        <p:nvSpPr>
          <p:cNvPr id="12" name="Shape 10"/>
          <p:cNvSpPr/>
          <p:nvPr/>
        </p:nvSpPr>
        <p:spPr>
          <a:xfrm>
            <a:off x="4709160" y="1097280"/>
            <a:ext cx="4114800" cy="59436"/>
          </a:xfrm>
          <a:prstGeom prst="rect">
            <a:avLst/>
          </a:prstGeom>
          <a:solidFill>
            <a:srgbClr val="8B72BE"/>
          </a:solidFill>
          <a:ln w="12700">
            <a:solidFill>
              <a:srgbClr val="8B72BE"/>
            </a:solidFill>
            <a:prstDash val="solid"/>
          </a:ln>
        </p:spPr>
      </p:sp>
      <p:sp>
        <p:nvSpPr>
          <p:cNvPr id="13" name="Shape 11"/>
          <p:cNvSpPr/>
          <p:nvPr/>
        </p:nvSpPr>
        <p:spPr>
          <a:xfrm>
            <a:off x="4846320" y="1261872"/>
            <a:ext cx="475488" cy="475488"/>
          </a:xfrm>
          <a:prstGeom prst="ellipse">
            <a:avLst/>
          </a:prstGeom>
          <a:solidFill>
            <a:srgbClr val="8B72BE"/>
          </a:solidFill>
          <a:ln w="12700">
            <a:solidFill>
              <a:srgbClr val="8B72BE"/>
            </a:solidFill>
            <a:prstDash val="solid"/>
          </a:ln>
        </p:spPr>
      </p:sp>
      <p:sp>
        <p:nvSpPr>
          <p:cNvPr id="14" name="Text 12"/>
          <p:cNvSpPr/>
          <p:nvPr/>
        </p:nvSpPr>
        <p:spPr>
          <a:xfrm>
            <a:off x="4846320" y="126187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sp>
        <p:nvSpPr>
          <p:cNvPr id="15" name="Text 13"/>
          <p:cNvSpPr/>
          <p:nvPr/>
        </p:nvSpPr>
        <p:spPr>
          <a:xfrm>
            <a:off x="5440680" y="1261872"/>
            <a:ext cx="324612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Location System</a:t>
            </a:r>
            <a:endParaRPr lang="en-US" sz="1600" dirty="0"/>
          </a:p>
        </p:txBody>
      </p:sp>
      <p:sp>
        <p:nvSpPr>
          <p:cNvPr id="16" name="Text 14"/>
          <p:cNvSpPr/>
          <p:nvPr/>
        </p:nvSpPr>
        <p:spPr>
          <a:xfrm>
            <a:off x="4846320" y="1847088"/>
            <a:ext cx="3840480" cy="877824"/>
          </a:xfrm>
          <a:prstGeom prst="rect">
            <a:avLst/>
          </a:prstGeom>
          <a:noFill/>
          <a:ln/>
        </p:spPr>
        <p:txBody>
          <a:bodyPr wrap="square" lIns="0" tIns="0" rIns="0" bIns="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Second entity layer: full CRUD for campaign locations — demonstrating multi-entity architecture.</a:t>
            </a:r>
            <a:endParaRPr lang="en-US" sz="1250" dirty="0"/>
          </a:p>
        </p:txBody>
      </p:sp>
      <p:sp>
        <p:nvSpPr>
          <p:cNvPr id="17" name="Shape 15"/>
          <p:cNvSpPr/>
          <p:nvPr/>
        </p:nvSpPr>
        <p:spPr>
          <a:xfrm>
            <a:off x="320040" y="3035808"/>
            <a:ext cx="4114800" cy="1719072"/>
          </a:xfrm>
          <a:prstGeom prst="rect">
            <a:avLst/>
          </a:prstGeom>
          <a:solidFill>
            <a:srgbClr val="252A4A"/>
          </a:solidFill>
          <a:ln w="12700">
            <a:solidFill>
              <a:srgbClr val="D4A847"/>
            </a:solidFill>
            <a:prstDash val="solid"/>
          </a:ln>
          <a:effectLst>
            <a:outerShdw sx="100000" sy="100000" kx="0" ky="0" algn="bl" rotWithShape="0" blurRad="101600" dist="25400" dir="8100000">
              <a:srgbClr val="000000">
                <a:alpha val="28000"/>
              </a:srgbClr>
            </a:outerShdw>
          </a:effectLst>
        </p:spPr>
      </p:sp>
      <p:sp>
        <p:nvSpPr>
          <p:cNvPr id="18" name="Shape 16"/>
          <p:cNvSpPr/>
          <p:nvPr/>
        </p:nvSpPr>
        <p:spPr>
          <a:xfrm>
            <a:off x="320040" y="3035808"/>
            <a:ext cx="4114800" cy="59436"/>
          </a:xfrm>
          <a:prstGeom prst="rect">
            <a:avLst/>
          </a:prstGeom>
          <a:solidFill>
            <a:srgbClr val="D4A847"/>
          </a:solidFill>
          <a:ln w="12700">
            <a:solidFill>
              <a:srgbClr val="D4A847"/>
            </a:solidFill>
            <a:prstDash val="solid"/>
          </a:ln>
        </p:spPr>
      </p:sp>
      <p:sp>
        <p:nvSpPr>
          <p:cNvPr id="19" name="Shape 17"/>
          <p:cNvSpPr/>
          <p:nvPr/>
        </p:nvSpPr>
        <p:spPr>
          <a:xfrm>
            <a:off x="457200" y="3200400"/>
            <a:ext cx="475488" cy="475488"/>
          </a:xfrm>
          <a:prstGeom prst="ellipse">
            <a:avLst/>
          </a:prstGeom>
          <a:solidFill>
            <a:srgbClr val="D4A847"/>
          </a:solidFill>
          <a:ln w="12700">
            <a:solidFill>
              <a:srgbClr val="D4A847"/>
            </a:solidFill>
            <a:prstDash val="solid"/>
          </a:ln>
        </p:spPr>
      </p:sp>
      <p:sp>
        <p:nvSpPr>
          <p:cNvPr id="20" name="Text 18"/>
          <p:cNvSpPr/>
          <p:nvPr/>
        </p:nvSpPr>
        <p:spPr>
          <a:xfrm>
            <a:off x="457200" y="32004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sp>
        <p:nvSpPr>
          <p:cNvPr id="21" name="Text 19"/>
          <p:cNvSpPr/>
          <p:nvPr/>
        </p:nvSpPr>
        <p:spPr>
          <a:xfrm>
            <a:off x="1051560" y="3200400"/>
            <a:ext cx="324612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Faction Relationships</a:t>
            </a:r>
            <a:endParaRPr lang="en-US" sz="1600" dirty="0"/>
          </a:p>
        </p:txBody>
      </p:sp>
      <p:sp>
        <p:nvSpPr>
          <p:cNvPr id="22" name="Text 20"/>
          <p:cNvSpPr/>
          <p:nvPr/>
        </p:nvSpPr>
        <p:spPr>
          <a:xfrm>
            <a:off x="457200" y="3785616"/>
            <a:ext cx="3840480" cy="877824"/>
          </a:xfrm>
          <a:prstGeom prst="rect">
            <a:avLst/>
          </a:prstGeom>
          <a:noFill/>
          <a:ln/>
        </p:spPr>
        <p:txBody>
          <a:bodyPr wrap="square" lIns="0" tIns="0" rIns="0" bIns="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Create factions, assign NPCs, view faction members — cross-entity relationships in action.</a:t>
            </a:r>
            <a:endParaRPr lang="en-US" sz="1250" dirty="0"/>
          </a:p>
        </p:txBody>
      </p:sp>
      <p:sp>
        <p:nvSpPr>
          <p:cNvPr id="23" name="Shape 21"/>
          <p:cNvSpPr/>
          <p:nvPr/>
        </p:nvSpPr>
        <p:spPr>
          <a:xfrm>
            <a:off x="4709160" y="3035808"/>
            <a:ext cx="4114800" cy="1719072"/>
          </a:xfrm>
          <a:prstGeom prst="rect">
            <a:avLst/>
          </a:prstGeom>
          <a:solidFill>
            <a:srgbClr val="252A4A"/>
          </a:solidFill>
          <a:ln w="12700">
            <a:solidFill>
              <a:srgbClr val="8B72BE"/>
            </a:solidFill>
            <a:prstDash val="solid"/>
          </a:ln>
          <a:effectLst>
            <a:outerShdw sx="100000" sy="100000" kx="0" ky="0" algn="bl" rotWithShape="0" blurRad="101600" dist="25400" dir="8100000">
              <a:srgbClr val="000000">
                <a:alpha val="28000"/>
              </a:srgbClr>
            </a:outerShdw>
          </a:effectLst>
        </p:spPr>
      </p:sp>
      <p:sp>
        <p:nvSpPr>
          <p:cNvPr id="24" name="Shape 22"/>
          <p:cNvSpPr/>
          <p:nvPr/>
        </p:nvSpPr>
        <p:spPr>
          <a:xfrm>
            <a:off x="4709160" y="3035808"/>
            <a:ext cx="4114800" cy="59436"/>
          </a:xfrm>
          <a:prstGeom prst="rect">
            <a:avLst/>
          </a:prstGeom>
          <a:solidFill>
            <a:srgbClr val="8B72BE"/>
          </a:solidFill>
          <a:ln w="12700">
            <a:solidFill>
              <a:srgbClr val="8B72BE"/>
            </a:solidFill>
            <a:prstDash val="solid"/>
          </a:ln>
        </p:spPr>
      </p:sp>
      <p:sp>
        <p:nvSpPr>
          <p:cNvPr id="25" name="Shape 23"/>
          <p:cNvSpPr/>
          <p:nvPr/>
        </p:nvSpPr>
        <p:spPr>
          <a:xfrm>
            <a:off x="4846320" y="3200400"/>
            <a:ext cx="475488" cy="475488"/>
          </a:xfrm>
          <a:prstGeom prst="ellipse">
            <a:avLst/>
          </a:prstGeom>
          <a:solidFill>
            <a:srgbClr val="8B72BE"/>
          </a:solidFill>
          <a:ln w="12700">
            <a:solidFill>
              <a:srgbClr val="8B72BE"/>
            </a:solidFill>
            <a:prstDash val="solid"/>
          </a:ln>
        </p:spPr>
      </p:sp>
      <p:sp>
        <p:nvSpPr>
          <p:cNvPr id="26" name="Text 24"/>
          <p:cNvSpPr/>
          <p:nvPr/>
        </p:nvSpPr>
        <p:spPr>
          <a:xfrm>
            <a:off x="4846320" y="32004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04</a:t>
            </a:r>
            <a:endParaRPr lang="en-US" sz="1300" dirty="0"/>
          </a:p>
        </p:txBody>
      </p:sp>
      <p:sp>
        <p:nvSpPr>
          <p:cNvPr id="27" name="Text 25"/>
          <p:cNvSpPr/>
          <p:nvPr/>
        </p:nvSpPr>
        <p:spPr>
          <a:xfrm>
            <a:off x="5440680" y="3200400"/>
            <a:ext cx="324612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Session Tracking</a:t>
            </a:r>
            <a:endParaRPr lang="en-US" sz="1600" dirty="0"/>
          </a:p>
        </p:txBody>
      </p:sp>
      <p:sp>
        <p:nvSpPr>
          <p:cNvPr id="28" name="Text 26"/>
          <p:cNvSpPr/>
          <p:nvPr/>
        </p:nvSpPr>
        <p:spPr>
          <a:xfrm>
            <a:off x="4846320" y="3785616"/>
            <a:ext cx="3840480" cy="877824"/>
          </a:xfrm>
          <a:prstGeom prst="rect">
            <a:avLst/>
          </a:prstGeom>
          <a:noFill/>
          <a:ln/>
        </p:spPr>
        <p:txBody>
          <a:bodyPr wrap="square" lIns="0" tIns="0" rIns="0" bIns="0" rtlCol="0" anchor="ctr"/>
          <a:lstStyle/>
          <a:p>
            <a:pPr indent="0" marL="0">
              <a:buNone/>
            </a:pPr>
            <a:r>
              <a:rPr lang="en-US" sz="1250" dirty="0">
                <a:solidFill>
                  <a:srgbClr val="C8CCDD"/>
                </a:solidFill>
                <a:latin typeface="Calibri" pitchFamily="34" charset="0"/>
                <a:ea typeface="Calibri" pitchFamily="34" charset="-122"/>
                <a:cs typeface="Calibri" pitchFamily="34" charset="-120"/>
              </a:rPr>
              <a:t>Log game sessions, tag NPCs with bidirectional association, search past sessions — narrative layer.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292608" y="402336"/>
            <a:ext cx="50292" cy="594360"/>
          </a:xfrm>
          <a:prstGeom prst="rect">
            <a:avLst/>
          </a:prstGeom>
          <a:solidFill>
            <a:srgbClr val="D4A847"/>
          </a:solidFill>
          <a:ln w="12700">
            <a:solidFill>
              <a:srgbClr val="D4A847"/>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RETROSPECTIVE</a:t>
            </a:r>
            <a:endParaRPr lang="en-US" sz="1000" dirty="0"/>
          </a:p>
        </p:txBody>
      </p:sp>
      <p:sp>
        <p:nvSpPr>
          <p:cNvPr id="4" name="Text 2"/>
          <p:cNvSpPr/>
          <p:nvPr/>
        </p:nvSpPr>
        <p:spPr>
          <a:xfrm>
            <a:off x="457200" y="420624"/>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I Learned</a:t>
            </a:r>
            <a:endParaRPr lang="en-US" sz="3400" dirty="0"/>
          </a:p>
        </p:txBody>
      </p:sp>
      <p:sp>
        <p:nvSpPr>
          <p:cNvPr id="5" name="Shape 3"/>
          <p:cNvSpPr/>
          <p:nvPr/>
        </p:nvSpPr>
        <p:spPr>
          <a:xfrm>
            <a:off x="320040" y="1097280"/>
            <a:ext cx="4114800" cy="1719072"/>
          </a:xfrm>
          <a:prstGeom prst="rect">
            <a:avLst/>
          </a:prstGeom>
          <a:solidFill>
            <a:srgbClr val="252A4A"/>
          </a:solidFill>
          <a:ln w="9525">
            <a:solidFill>
              <a:srgbClr val="D4A847"/>
            </a:solidFill>
            <a:prstDash val="solid"/>
          </a:ln>
          <a:effectLst>
            <a:outerShdw sx="100000" sy="100000" kx="0" ky="0" algn="bl" rotWithShape="0" blurRad="101600" dist="25400" dir="8100000">
              <a:srgbClr val="000000">
                <a:alpha val="28000"/>
              </a:srgbClr>
            </a:outerShdw>
          </a:effectLst>
        </p:spPr>
      </p:sp>
      <p:sp>
        <p:nvSpPr>
          <p:cNvPr id="6" name="Shape 4"/>
          <p:cNvSpPr/>
          <p:nvPr/>
        </p:nvSpPr>
        <p:spPr>
          <a:xfrm>
            <a:off x="320040" y="1097280"/>
            <a:ext cx="64008" cy="1719072"/>
          </a:xfrm>
          <a:prstGeom prst="rect">
            <a:avLst/>
          </a:prstGeom>
          <a:solidFill>
            <a:srgbClr val="D4A847"/>
          </a:solidFill>
          <a:ln w="12700">
            <a:solidFill>
              <a:srgbClr val="D4A847"/>
            </a:solidFill>
            <a:prstDash val="solid"/>
          </a:ln>
        </p:spPr>
      </p:sp>
      <p:sp>
        <p:nvSpPr>
          <p:cNvPr id="7" name="Text 5"/>
          <p:cNvSpPr/>
          <p:nvPr/>
        </p:nvSpPr>
        <p:spPr>
          <a:xfrm>
            <a:off x="484632" y="1188720"/>
            <a:ext cx="530352" cy="347472"/>
          </a:xfrm>
          <a:prstGeom prst="rect">
            <a:avLst/>
          </a:prstGeom>
          <a:noFill/>
          <a:ln/>
        </p:spPr>
        <p:txBody>
          <a:bodyPr wrap="square" lIns="0" tIns="0" rIns="0" bIns="0" rtlCol="0" anchor="ctr"/>
          <a:lstStyle/>
          <a:p>
            <a:pPr indent="0" marL="0">
              <a:buNone/>
            </a:pPr>
            <a:r>
              <a:rPr lang="en-US" sz="1800" b="1" dirty="0">
                <a:solidFill>
                  <a:srgbClr val="D4A847"/>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484632" y="1554480"/>
            <a:ext cx="3840480" cy="402336"/>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Value of Early Vertical Slice</a:t>
            </a:r>
            <a:endParaRPr lang="en-US" sz="1400" dirty="0"/>
          </a:p>
        </p:txBody>
      </p:sp>
      <p:sp>
        <p:nvSpPr>
          <p:cNvPr id="9" name="Text 7"/>
          <p:cNvSpPr/>
          <p:nvPr/>
        </p:nvSpPr>
        <p:spPr>
          <a:xfrm>
            <a:off x="484632" y="1993392"/>
            <a:ext cx="3840480" cy="804672"/>
          </a:xfrm>
          <a:prstGeom prst="rect">
            <a:avLst/>
          </a:prstGeom>
          <a:noFill/>
          <a:ln/>
        </p:spPr>
        <p:txBody>
          <a:bodyPr wrap="square" lIns="0" tIns="0" rIns="0" bIns="0" rtlCol="0" anchor="ctr"/>
          <a:lstStyle/>
          <a:p>
            <a:pPr indent="0" marL="0">
              <a:buNone/>
            </a:pPr>
            <a:r>
              <a:rPr lang="en-US" sz="1200" dirty="0">
                <a:solidFill>
                  <a:srgbClr val="C8CCDD"/>
                </a:solidFill>
                <a:latin typeface="Calibri" pitchFamily="34" charset="0"/>
                <a:ea typeface="Calibri" pitchFamily="34" charset="-122"/>
                <a:cs typeface="Calibri" pitchFamily="34" charset="-120"/>
              </a:rPr>
              <a:t>Sprint 1's complete NPC CRUD system gave the team a working foundation — and proved the architecture was sound before adding complexity.</a:t>
            </a:r>
            <a:endParaRPr lang="en-US" sz="1200" dirty="0"/>
          </a:p>
        </p:txBody>
      </p:sp>
      <p:sp>
        <p:nvSpPr>
          <p:cNvPr id="10" name="Shape 8"/>
          <p:cNvSpPr/>
          <p:nvPr/>
        </p:nvSpPr>
        <p:spPr>
          <a:xfrm>
            <a:off x="4709160" y="1097280"/>
            <a:ext cx="4114800" cy="1719072"/>
          </a:xfrm>
          <a:prstGeom prst="rect">
            <a:avLst/>
          </a:prstGeom>
          <a:solidFill>
            <a:srgbClr val="252A4A"/>
          </a:solidFill>
          <a:ln w="9525">
            <a:solidFill>
              <a:srgbClr val="8B72BE"/>
            </a:solidFill>
            <a:prstDash val="solid"/>
          </a:ln>
          <a:effectLst>
            <a:outerShdw sx="100000" sy="100000" kx="0" ky="0" algn="bl" rotWithShape="0" blurRad="101600" dist="25400" dir="8100000">
              <a:srgbClr val="000000">
                <a:alpha val="28000"/>
              </a:srgbClr>
            </a:outerShdw>
          </a:effectLst>
        </p:spPr>
      </p:sp>
      <p:sp>
        <p:nvSpPr>
          <p:cNvPr id="11" name="Shape 9"/>
          <p:cNvSpPr/>
          <p:nvPr/>
        </p:nvSpPr>
        <p:spPr>
          <a:xfrm>
            <a:off x="4709160" y="1097280"/>
            <a:ext cx="64008" cy="1719072"/>
          </a:xfrm>
          <a:prstGeom prst="rect">
            <a:avLst/>
          </a:prstGeom>
          <a:solidFill>
            <a:srgbClr val="8B72BE"/>
          </a:solidFill>
          <a:ln w="12700">
            <a:solidFill>
              <a:srgbClr val="8B72BE"/>
            </a:solidFill>
            <a:prstDash val="solid"/>
          </a:ln>
        </p:spPr>
      </p:sp>
      <p:sp>
        <p:nvSpPr>
          <p:cNvPr id="12" name="Text 10"/>
          <p:cNvSpPr/>
          <p:nvPr/>
        </p:nvSpPr>
        <p:spPr>
          <a:xfrm>
            <a:off x="4873752" y="1188720"/>
            <a:ext cx="530352" cy="347472"/>
          </a:xfrm>
          <a:prstGeom prst="rect">
            <a:avLst/>
          </a:prstGeom>
          <a:noFill/>
          <a:ln/>
        </p:spPr>
        <p:txBody>
          <a:bodyPr wrap="square" lIns="0" tIns="0" rIns="0" bIns="0" rtlCol="0" anchor="ctr"/>
          <a:lstStyle/>
          <a:p>
            <a:pPr indent="0" marL="0">
              <a:buNone/>
            </a:pPr>
            <a:r>
              <a:rPr lang="en-US" sz="1800" b="1" dirty="0">
                <a:solidFill>
                  <a:srgbClr val="8B72BE"/>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4873752" y="1554480"/>
            <a:ext cx="3840480" cy="402336"/>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Importance of Real User Feedback</a:t>
            </a:r>
            <a:endParaRPr lang="en-US" sz="1400" dirty="0"/>
          </a:p>
        </p:txBody>
      </p:sp>
      <p:sp>
        <p:nvSpPr>
          <p:cNvPr id="14" name="Text 12"/>
          <p:cNvSpPr/>
          <p:nvPr/>
        </p:nvSpPr>
        <p:spPr>
          <a:xfrm>
            <a:off x="4873752" y="1993392"/>
            <a:ext cx="3840480" cy="804672"/>
          </a:xfrm>
          <a:prstGeom prst="rect">
            <a:avLst/>
          </a:prstGeom>
          <a:noFill/>
          <a:ln/>
        </p:spPr>
        <p:txBody>
          <a:bodyPr wrap="square" lIns="0" tIns="0" rIns="0" bIns="0" rtlCol="0" anchor="ctr"/>
          <a:lstStyle/>
          <a:p>
            <a:pPr indent="0" marL="0">
              <a:buNone/>
            </a:pPr>
            <a:r>
              <a:rPr lang="en-US" sz="1200" dirty="0">
                <a:solidFill>
                  <a:srgbClr val="C8CCDD"/>
                </a:solidFill>
                <a:latin typeface="Calibri" pitchFamily="34" charset="0"/>
                <a:ea typeface="Calibri" pitchFamily="34" charset="-122"/>
                <a:cs typeface="Calibri" pitchFamily="34" charset="-120"/>
              </a:rPr>
              <a:t>Post-sprint retrospectives directly shaped scope. Sprint 2 stories were created entirely in response to Sprint 1 review — Agile working as intended.</a:t>
            </a:r>
            <a:endParaRPr lang="en-US" sz="1200" dirty="0"/>
          </a:p>
        </p:txBody>
      </p:sp>
      <p:sp>
        <p:nvSpPr>
          <p:cNvPr id="15" name="Shape 13"/>
          <p:cNvSpPr/>
          <p:nvPr/>
        </p:nvSpPr>
        <p:spPr>
          <a:xfrm>
            <a:off x="320040" y="2999232"/>
            <a:ext cx="4114800" cy="1719072"/>
          </a:xfrm>
          <a:prstGeom prst="rect">
            <a:avLst/>
          </a:prstGeom>
          <a:solidFill>
            <a:srgbClr val="252A4A"/>
          </a:solidFill>
          <a:ln w="9525">
            <a:solidFill>
              <a:srgbClr val="D4A847"/>
            </a:solidFill>
            <a:prstDash val="solid"/>
          </a:ln>
          <a:effectLst>
            <a:outerShdw sx="100000" sy="100000" kx="0" ky="0" algn="bl" rotWithShape="0" blurRad="101600" dist="25400" dir="8100000">
              <a:srgbClr val="000000">
                <a:alpha val="28000"/>
              </a:srgbClr>
            </a:outerShdw>
          </a:effectLst>
        </p:spPr>
      </p:sp>
      <p:sp>
        <p:nvSpPr>
          <p:cNvPr id="16" name="Shape 14"/>
          <p:cNvSpPr/>
          <p:nvPr/>
        </p:nvSpPr>
        <p:spPr>
          <a:xfrm>
            <a:off x="320040" y="2999232"/>
            <a:ext cx="64008" cy="1719072"/>
          </a:xfrm>
          <a:prstGeom prst="rect">
            <a:avLst/>
          </a:prstGeom>
          <a:solidFill>
            <a:srgbClr val="D4A847"/>
          </a:solidFill>
          <a:ln w="12700">
            <a:solidFill>
              <a:srgbClr val="D4A847"/>
            </a:solidFill>
            <a:prstDash val="solid"/>
          </a:ln>
        </p:spPr>
      </p:sp>
      <p:sp>
        <p:nvSpPr>
          <p:cNvPr id="17" name="Text 15"/>
          <p:cNvSpPr/>
          <p:nvPr/>
        </p:nvSpPr>
        <p:spPr>
          <a:xfrm>
            <a:off x="484632" y="3090672"/>
            <a:ext cx="530352" cy="347472"/>
          </a:xfrm>
          <a:prstGeom prst="rect">
            <a:avLst/>
          </a:prstGeom>
          <a:noFill/>
          <a:ln/>
        </p:spPr>
        <p:txBody>
          <a:bodyPr wrap="square" lIns="0" tIns="0" rIns="0" bIns="0" rtlCol="0" anchor="ctr"/>
          <a:lstStyle/>
          <a:p>
            <a:pPr indent="0" marL="0">
              <a:buNone/>
            </a:pPr>
            <a:r>
              <a:rPr lang="en-US" sz="1800" b="1" dirty="0">
                <a:solidFill>
                  <a:srgbClr val="D4A847"/>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484632" y="3456432"/>
            <a:ext cx="3840480" cy="402336"/>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Metrics Are for Insight, Not Control</a:t>
            </a:r>
            <a:endParaRPr lang="en-US" sz="1400" dirty="0"/>
          </a:p>
        </p:txBody>
      </p:sp>
      <p:sp>
        <p:nvSpPr>
          <p:cNvPr id="19" name="Text 17"/>
          <p:cNvSpPr/>
          <p:nvPr/>
        </p:nvSpPr>
        <p:spPr>
          <a:xfrm>
            <a:off x="484632" y="3895344"/>
            <a:ext cx="3840480" cy="804672"/>
          </a:xfrm>
          <a:prstGeom prst="rect">
            <a:avLst/>
          </a:prstGeom>
          <a:noFill/>
          <a:ln/>
        </p:spPr>
        <p:txBody>
          <a:bodyPr wrap="square" lIns="0" tIns="0" rIns="0" bIns="0" rtlCol="0" anchor="ctr"/>
          <a:lstStyle/>
          <a:p>
            <a:pPr indent="0" marL="0">
              <a:buNone/>
            </a:pPr>
            <a:r>
              <a:rPr lang="en-US" sz="1200" dirty="0">
                <a:solidFill>
                  <a:srgbClr val="C8CCDD"/>
                </a:solidFill>
                <a:latin typeface="Calibri" pitchFamily="34" charset="0"/>
                <a:ea typeface="Calibri" pitchFamily="34" charset="-122"/>
                <a:cs typeface="Calibri" pitchFamily="34" charset="-120"/>
              </a:rPr>
              <a:t>Tracking velocity revealed a 33% growth trend per sprint. Sprint 2 was intentionally extended — the right call over an arbitrary deadline.</a:t>
            </a:r>
            <a:endParaRPr lang="en-US" sz="1200" dirty="0"/>
          </a:p>
        </p:txBody>
      </p:sp>
      <p:sp>
        <p:nvSpPr>
          <p:cNvPr id="20" name="Shape 18"/>
          <p:cNvSpPr/>
          <p:nvPr/>
        </p:nvSpPr>
        <p:spPr>
          <a:xfrm>
            <a:off x="4709160" y="2999232"/>
            <a:ext cx="4114800" cy="1719072"/>
          </a:xfrm>
          <a:prstGeom prst="rect">
            <a:avLst/>
          </a:prstGeom>
          <a:solidFill>
            <a:srgbClr val="252A4A"/>
          </a:solidFill>
          <a:ln w="9525">
            <a:solidFill>
              <a:srgbClr val="8B72BE"/>
            </a:solidFill>
            <a:prstDash val="solid"/>
          </a:ln>
          <a:effectLst>
            <a:outerShdw sx="100000" sy="100000" kx="0" ky="0" algn="bl" rotWithShape="0" blurRad="101600" dist="25400" dir="8100000">
              <a:srgbClr val="000000">
                <a:alpha val="28000"/>
              </a:srgbClr>
            </a:outerShdw>
          </a:effectLst>
        </p:spPr>
      </p:sp>
      <p:sp>
        <p:nvSpPr>
          <p:cNvPr id="21" name="Shape 19"/>
          <p:cNvSpPr/>
          <p:nvPr/>
        </p:nvSpPr>
        <p:spPr>
          <a:xfrm>
            <a:off x="4709160" y="2999232"/>
            <a:ext cx="64008" cy="1719072"/>
          </a:xfrm>
          <a:prstGeom prst="rect">
            <a:avLst/>
          </a:prstGeom>
          <a:solidFill>
            <a:srgbClr val="8B72BE"/>
          </a:solidFill>
          <a:ln w="12700">
            <a:solidFill>
              <a:srgbClr val="8B72BE"/>
            </a:solidFill>
            <a:prstDash val="solid"/>
          </a:ln>
        </p:spPr>
      </p:sp>
      <p:sp>
        <p:nvSpPr>
          <p:cNvPr id="22" name="Text 20"/>
          <p:cNvSpPr/>
          <p:nvPr/>
        </p:nvSpPr>
        <p:spPr>
          <a:xfrm>
            <a:off x="4873752" y="3090672"/>
            <a:ext cx="530352" cy="347472"/>
          </a:xfrm>
          <a:prstGeom prst="rect">
            <a:avLst/>
          </a:prstGeom>
          <a:noFill/>
          <a:ln/>
        </p:spPr>
        <p:txBody>
          <a:bodyPr wrap="square" lIns="0" tIns="0" rIns="0" bIns="0" rtlCol="0" anchor="ctr"/>
          <a:lstStyle/>
          <a:p>
            <a:pPr indent="0" marL="0">
              <a:buNone/>
            </a:pPr>
            <a:r>
              <a:rPr lang="en-US" sz="1800" b="1" dirty="0">
                <a:solidFill>
                  <a:srgbClr val="8B72BE"/>
                </a:solidFill>
                <a:latin typeface="Georgia" pitchFamily="34" charset="0"/>
                <a:ea typeface="Georgia" pitchFamily="34" charset="-122"/>
                <a:cs typeface="Georgia" pitchFamily="34" charset="-120"/>
              </a:rPr>
              <a:t>04</a:t>
            </a:r>
            <a:endParaRPr lang="en-US" sz="1800" dirty="0"/>
          </a:p>
        </p:txBody>
      </p:sp>
      <p:sp>
        <p:nvSpPr>
          <p:cNvPr id="23" name="Text 21"/>
          <p:cNvSpPr/>
          <p:nvPr/>
        </p:nvSpPr>
        <p:spPr>
          <a:xfrm>
            <a:off x="4873752" y="3456432"/>
            <a:ext cx="3840480" cy="402336"/>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Agile Adapts to Real Constraints</a:t>
            </a:r>
            <a:endParaRPr lang="en-US" sz="1400" dirty="0"/>
          </a:p>
        </p:txBody>
      </p:sp>
      <p:sp>
        <p:nvSpPr>
          <p:cNvPr id="24" name="Text 22"/>
          <p:cNvSpPr/>
          <p:nvPr/>
        </p:nvSpPr>
        <p:spPr>
          <a:xfrm>
            <a:off x="4873752" y="3895344"/>
            <a:ext cx="3840480" cy="804672"/>
          </a:xfrm>
          <a:prstGeom prst="rect">
            <a:avLst/>
          </a:prstGeom>
          <a:noFill/>
          <a:ln/>
        </p:spPr>
        <p:txBody>
          <a:bodyPr wrap="square" lIns="0" tIns="0" rIns="0" bIns="0" rtlCol="0" anchor="ctr"/>
          <a:lstStyle/>
          <a:p>
            <a:pPr indent="0" marL="0">
              <a:buNone/>
            </a:pPr>
            <a:r>
              <a:rPr lang="en-US" sz="1200" dirty="0">
                <a:solidFill>
                  <a:srgbClr val="C8CCDD"/>
                </a:solidFill>
                <a:latin typeface="Calibri" pitchFamily="34" charset="0"/>
                <a:ea typeface="Calibri" pitchFamily="34" charset="-122"/>
                <a:cs typeface="Calibri" pitchFamily="34" charset="-120"/>
              </a:rPr>
              <a:t>GitHub Copilot was introduced in Sprint 3 as a team adaptation — directly contributing to 8 stories shipped in 10 days, the project's highest-velocity sprint.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4A847"/>
          </a:solidFill>
          <a:ln w="12700">
            <a:solidFill>
              <a:srgbClr val="D4A847"/>
            </a:solidFill>
            <a:prstDash val="solid"/>
          </a:ln>
        </p:spPr>
      </p:sp>
      <p:sp>
        <p:nvSpPr>
          <p:cNvPr id="3" name="Shape 1"/>
          <p:cNvSpPr/>
          <p:nvPr/>
        </p:nvSpPr>
        <p:spPr>
          <a:xfrm>
            <a:off x="6949440" y="0"/>
            <a:ext cx="2194560" cy="5143500"/>
          </a:xfrm>
          <a:prstGeom prst="rect">
            <a:avLst/>
          </a:prstGeom>
          <a:solidFill>
            <a:srgbClr val="1D2140"/>
          </a:solidFill>
          <a:ln w="12700">
            <a:solidFill>
              <a:srgbClr val="1D2140"/>
            </a:solidFill>
            <a:prstDash val="solid"/>
          </a:ln>
        </p:spPr>
      </p:sp>
      <p:sp>
        <p:nvSpPr>
          <p:cNvPr id="4" name="Shape 2"/>
          <p:cNvSpPr/>
          <p:nvPr/>
        </p:nvSpPr>
        <p:spPr>
          <a:xfrm>
            <a:off x="6766560" y="-822960"/>
            <a:ext cx="3017520" cy="3017520"/>
          </a:xfrm>
          <a:prstGeom prst="ellipse">
            <a:avLst/>
          </a:prstGeom>
          <a:solidFill>
            <a:srgbClr val="D4A847">
              <a:alpha val="17000"/>
            </a:srgbClr>
          </a:solidFill>
          <a:ln w="6350">
            <a:solidFill>
              <a:srgbClr val="D4A847">
                <a:alpha val="27000"/>
              </a:srgbClr>
            </a:solidFill>
            <a:prstDash val="solid"/>
          </a:ln>
        </p:spPr>
      </p:sp>
      <p:sp>
        <p:nvSpPr>
          <p:cNvPr id="5" name="Shape 3"/>
          <p:cNvSpPr/>
          <p:nvPr/>
        </p:nvSpPr>
        <p:spPr>
          <a:xfrm>
            <a:off x="7589520" y="2743200"/>
            <a:ext cx="2103120" cy="2103120"/>
          </a:xfrm>
          <a:prstGeom prst="ellipse">
            <a:avLst/>
          </a:prstGeom>
          <a:solidFill>
            <a:srgbClr val="8B72BE">
              <a:alpha val="23000"/>
            </a:srgbClr>
          </a:solidFill>
          <a:ln w="6350">
            <a:solidFill>
              <a:srgbClr val="8B72BE">
                <a:alpha val="33000"/>
              </a:srgbClr>
            </a:solidFill>
            <a:prstDash val="solid"/>
          </a:ln>
        </p:spPr>
      </p:sp>
      <p:sp>
        <p:nvSpPr>
          <p:cNvPr id="6" name="Text 4"/>
          <p:cNvSpPr/>
          <p:nvPr/>
        </p:nvSpPr>
        <p:spPr>
          <a:xfrm>
            <a:off x="411480" y="256032"/>
            <a:ext cx="6400800" cy="256032"/>
          </a:xfrm>
          <a:prstGeom prst="rect">
            <a:avLst/>
          </a:prstGeom>
          <a:noFill/>
          <a:ln/>
        </p:spPr>
        <p:txBody>
          <a:bodyPr wrap="square" lIns="0" tIns="0" rIns="0" bIns="0" rtlCol="0" anchor="ctr"/>
          <a:lstStyle/>
          <a:p>
            <a:pPr indent="0" marL="0">
              <a:buNone/>
            </a:pPr>
            <a:r>
              <a:rPr lang="en-US" sz="1000" b="1" spc="400" kern="0" dirty="0">
                <a:solidFill>
                  <a:srgbClr val="D4A847"/>
                </a:solidFill>
                <a:latin typeface="Calibri" pitchFamily="34" charset="0"/>
                <a:ea typeface="Calibri" pitchFamily="34" charset="-122"/>
                <a:cs typeface="Calibri" pitchFamily="34" charset="-120"/>
              </a:rPr>
              <a:t>FINAL THOUGHTS</a:t>
            </a:r>
            <a:endParaRPr lang="en-US" sz="1000" dirty="0"/>
          </a:p>
        </p:txBody>
      </p:sp>
      <p:sp>
        <p:nvSpPr>
          <p:cNvPr id="7" name="Text 5"/>
          <p:cNvSpPr/>
          <p:nvPr/>
        </p:nvSpPr>
        <p:spPr>
          <a:xfrm>
            <a:off x="411480" y="493776"/>
            <a:ext cx="6400800" cy="658368"/>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Conclusion</a:t>
            </a:r>
            <a:endParaRPr lang="en-US" sz="4000" dirty="0"/>
          </a:p>
        </p:txBody>
      </p:sp>
      <p:sp>
        <p:nvSpPr>
          <p:cNvPr id="8" name="Shape 6"/>
          <p:cNvSpPr/>
          <p:nvPr/>
        </p:nvSpPr>
        <p:spPr>
          <a:xfrm>
            <a:off x="411480" y="1389888"/>
            <a:ext cx="6492240" cy="914400"/>
          </a:xfrm>
          <a:prstGeom prst="rect">
            <a:avLst/>
          </a:prstGeom>
          <a:solidFill>
            <a:srgbClr val="252A4A"/>
          </a:solidFill>
          <a:ln w="9525">
            <a:solidFill>
              <a:srgbClr val="D4A847"/>
            </a:solidFill>
            <a:prstDash val="solid"/>
          </a:ln>
          <a:effectLst>
            <a:outerShdw sx="100000" sy="100000" kx="0" ky="0" algn="bl" rotWithShape="0" blurRad="50800" dist="12700" dir="8100000">
              <a:srgbClr val="000000">
                <a:alpha val="18000"/>
              </a:srgbClr>
            </a:outerShdw>
          </a:effectLst>
        </p:spPr>
      </p:sp>
      <p:sp>
        <p:nvSpPr>
          <p:cNvPr id="9" name="Shape 7"/>
          <p:cNvSpPr/>
          <p:nvPr/>
        </p:nvSpPr>
        <p:spPr>
          <a:xfrm>
            <a:off x="411480" y="1389888"/>
            <a:ext cx="64008" cy="914400"/>
          </a:xfrm>
          <a:prstGeom prst="rect">
            <a:avLst/>
          </a:prstGeom>
          <a:solidFill>
            <a:srgbClr val="D4A847"/>
          </a:solidFill>
          <a:ln w="12700">
            <a:solidFill>
              <a:srgbClr val="D4A847"/>
            </a:solidFill>
            <a:prstDash val="solid"/>
          </a:ln>
        </p:spPr>
      </p:sp>
      <p:sp>
        <p:nvSpPr>
          <p:cNvPr id="10" name="Text 8"/>
          <p:cNvSpPr/>
          <p:nvPr/>
        </p:nvSpPr>
        <p:spPr>
          <a:xfrm>
            <a:off x="594360" y="1435608"/>
            <a:ext cx="6199632" cy="822960"/>
          </a:xfrm>
          <a:prstGeom prst="rect">
            <a:avLst/>
          </a:prstGeom>
          <a:noFill/>
          <a:ln/>
        </p:spPr>
        <p:txBody>
          <a:bodyPr wrap="square" lIns="0" tIns="0" rIns="0" bIns="0" rtlCol="0" anchor="ctr"/>
          <a:lstStyle/>
          <a:p>
            <a:pPr indent="0" marL="0">
              <a:buNone/>
            </a:pPr>
            <a:r>
              <a:rPr lang="en-US" sz="1350" dirty="0">
                <a:solidFill>
                  <a:srgbClr val="C8CCDD"/>
                </a:solidFill>
                <a:latin typeface="Calibri" pitchFamily="34" charset="0"/>
                <a:ea typeface="Calibri" pitchFamily="34" charset="-122"/>
                <a:cs typeface="Calibri" pitchFamily="34" charset="-120"/>
              </a:rPr>
              <a:t>Agile enabled steady, iterative progress — each sprint shipped working software into main, with no big-bang delivery.</a:t>
            </a:r>
            <a:endParaRPr lang="en-US" sz="1350" dirty="0"/>
          </a:p>
        </p:txBody>
      </p:sp>
      <p:sp>
        <p:nvSpPr>
          <p:cNvPr id="11" name="Shape 9"/>
          <p:cNvSpPr/>
          <p:nvPr/>
        </p:nvSpPr>
        <p:spPr>
          <a:xfrm>
            <a:off x="411480" y="2459736"/>
            <a:ext cx="6492240" cy="914400"/>
          </a:xfrm>
          <a:prstGeom prst="rect">
            <a:avLst/>
          </a:prstGeom>
          <a:solidFill>
            <a:srgbClr val="252A4A"/>
          </a:solidFill>
          <a:ln w="9525">
            <a:solidFill>
              <a:srgbClr val="8B72BE"/>
            </a:solidFill>
            <a:prstDash val="solid"/>
          </a:ln>
          <a:effectLst>
            <a:outerShdw sx="100000" sy="100000" kx="0" ky="0" algn="bl" rotWithShape="0" blurRad="50800" dist="12700" dir="8100000">
              <a:srgbClr val="000000">
                <a:alpha val="18000"/>
              </a:srgbClr>
            </a:outerShdw>
          </a:effectLst>
        </p:spPr>
      </p:sp>
      <p:sp>
        <p:nvSpPr>
          <p:cNvPr id="12" name="Shape 10"/>
          <p:cNvSpPr/>
          <p:nvPr/>
        </p:nvSpPr>
        <p:spPr>
          <a:xfrm>
            <a:off x="411480" y="2459736"/>
            <a:ext cx="64008" cy="914400"/>
          </a:xfrm>
          <a:prstGeom prst="rect">
            <a:avLst/>
          </a:prstGeom>
          <a:solidFill>
            <a:srgbClr val="8B72BE"/>
          </a:solidFill>
          <a:ln w="12700">
            <a:solidFill>
              <a:srgbClr val="8B72BE"/>
            </a:solidFill>
            <a:prstDash val="solid"/>
          </a:ln>
        </p:spPr>
      </p:sp>
      <p:sp>
        <p:nvSpPr>
          <p:cNvPr id="13" name="Text 11"/>
          <p:cNvSpPr/>
          <p:nvPr/>
        </p:nvSpPr>
        <p:spPr>
          <a:xfrm>
            <a:off x="594360" y="2505456"/>
            <a:ext cx="6199632" cy="822960"/>
          </a:xfrm>
          <a:prstGeom prst="rect">
            <a:avLst/>
          </a:prstGeom>
          <a:noFill/>
          <a:ln/>
        </p:spPr>
        <p:txBody>
          <a:bodyPr wrap="square" lIns="0" tIns="0" rIns="0" bIns="0" rtlCol="0" anchor="ctr"/>
          <a:lstStyle/>
          <a:p>
            <a:pPr indent="0" marL="0">
              <a:buNone/>
            </a:pPr>
            <a:r>
              <a:rPr lang="en-US" sz="1350" dirty="0">
                <a:solidFill>
                  <a:srgbClr val="C8CCDD"/>
                </a:solidFill>
                <a:latin typeface="Calibri" pitchFamily="34" charset="0"/>
                <a:ea typeface="Calibri" pitchFamily="34" charset="-122"/>
                <a:cs typeface="Calibri" pitchFamily="34" charset="-120"/>
              </a:rPr>
              <a:t>The system evolved from a single-entity CRUD app into a multi-entity platform: NPCs, Locations, Factions, Sessions, and Visualization.</a:t>
            </a:r>
            <a:endParaRPr lang="en-US" sz="1350" dirty="0"/>
          </a:p>
        </p:txBody>
      </p:sp>
      <p:sp>
        <p:nvSpPr>
          <p:cNvPr id="14" name="Shape 12"/>
          <p:cNvSpPr/>
          <p:nvPr/>
        </p:nvSpPr>
        <p:spPr>
          <a:xfrm>
            <a:off x="411480" y="3529584"/>
            <a:ext cx="6492240" cy="914400"/>
          </a:xfrm>
          <a:prstGeom prst="rect">
            <a:avLst/>
          </a:prstGeom>
          <a:solidFill>
            <a:srgbClr val="252A4A"/>
          </a:solidFill>
          <a:ln w="9525">
            <a:solidFill>
              <a:srgbClr val="D4A847"/>
            </a:solidFill>
            <a:prstDash val="solid"/>
          </a:ln>
          <a:effectLst>
            <a:outerShdw sx="100000" sy="100000" kx="0" ky="0" algn="bl" rotWithShape="0" blurRad="50800" dist="12700" dir="8100000">
              <a:srgbClr val="000000">
                <a:alpha val="18000"/>
              </a:srgbClr>
            </a:outerShdw>
          </a:effectLst>
        </p:spPr>
      </p:sp>
      <p:sp>
        <p:nvSpPr>
          <p:cNvPr id="15" name="Shape 13"/>
          <p:cNvSpPr/>
          <p:nvPr/>
        </p:nvSpPr>
        <p:spPr>
          <a:xfrm>
            <a:off x="411480" y="3529584"/>
            <a:ext cx="64008" cy="914400"/>
          </a:xfrm>
          <a:prstGeom prst="rect">
            <a:avLst/>
          </a:prstGeom>
          <a:solidFill>
            <a:srgbClr val="D4A847"/>
          </a:solidFill>
          <a:ln w="12700">
            <a:solidFill>
              <a:srgbClr val="D4A847"/>
            </a:solidFill>
            <a:prstDash val="solid"/>
          </a:ln>
        </p:spPr>
      </p:sp>
      <p:sp>
        <p:nvSpPr>
          <p:cNvPr id="16" name="Text 14"/>
          <p:cNvSpPr/>
          <p:nvPr/>
        </p:nvSpPr>
        <p:spPr>
          <a:xfrm>
            <a:off x="594360" y="3575304"/>
            <a:ext cx="6199632" cy="822960"/>
          </a:xfrm>
          <a:prstGeom prst="rect">
            <a:avLst/>
          </a:prstGeom>
          <a:noFill/>
          <a:ln/>
        </p:spPr>
        <p:txBody>
          <a:bodyPr wrap="square" lIns="0" tIns="0" rIns="0" bIns="0" rtlCol="0" anchor="ctr"/>
          <a:lstStyle/>
          <a:p>
            <a:pPr indent="0" marL="0">
              <a:buNone/>
            </a:pPr>
            <a:r>
              <a:rPr lang="en-US" sz="1350" dirty="0">
                <a:solidFill>
                  <a:srgbClr val="C8CCDD"/>
                </a:solidFill>
                <a:latin typeface="Calibri" pitchFamily="34" charset="0"/>
                <a:ea typeface="Calibri" pitchFamily="34" charset="-122"/>
                <a:cs typeface="Calibri" pitchFamily="34" charset="-120"/>
              </a:rPr>
              <a:t>This process is directly transferable to professional work — sprint planning, backlog grooming, velocity tracking, and retrospectives.</a:t>
            </a:r>
            <a:endParaRPr lang="en-US" sz="1350" dirty="0"/>
          </a:p>
        </p:txBody>
      </p:sp>
      <p:sp>
        <p:nvSpPr>
          <p:cNvPr id="17" name="Text 15"/>
          <p:cNvSpPr/>
          <p:nvPr/>
        </p:nvSpPr>
        <p:spPr>
          <a:xfrm>
            <a:off x="411480" y="4681728"/>
            <a:ext cx="6858000" cy="292608"/>
          </a:xfrm>
          <a:prstGeom prst="rect">
            <a:avLst/>
          </a:prstGeom>
          <a:noFill/>
          <a:ln/>
        </p:spPr>
        <p:txBody>
          <a:bodyPr wrap="square" lIns="0" tIns="0" rIns="0" bIns="0" rtlCol="0" anchor="ctr"/>
          <a:lstStyle/>
          <a:p>
            <a:pPr indent="0" marL="0">
              <a:buNone/>
            </a:pPr>
            <a:r>
              <a:rPr lang="en-US" sz="1200" i="1" dirty="0">
                <a:solidFill>
                  <a:srgbClr val="D4A847"/>
                </a:solidFill>
                <a:latin typeface="Calibri" pitchFamily="34" charset="0"/>
                <a:ea typeface="Calibri" pitchFamily="34" charset="-122"/>
                <a:cs typeface="Calibri" pitchFamily="34" charset="-120"/>
              </a:rPr>
              <a:t>github.com/TheSirLancelot/loresmith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LoreSmith – Agile Course Project</dc:title>
  <dc:subject>PptxGenJS Presentation</dc:subject>
  <dc:creator>LoreSmith</dc:creator>
  <cp:lastModifiedBy>LoreSmith</cp:lastModifiedBy>
  <cp:revision>1</cp:revision>
  <dcterms:created xsi:type="dcterms:W3CDTF">2026-05-01T20:19:26Z</dcterms:created>
  <dcterms:modified xsi:type="dcterms:W3CDTF">2026-05-01T20:19:26Z</dcterms:modified>
</cp:coreProperties>
</file>